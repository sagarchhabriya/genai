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</p:sldIdLst>
  <p:sldSz cy="5143500" cx="9144000"/>
  <p:notesSz cx="6858000" cy="9144000"/>
  <p:embeddedFontLst>
    <p:embeddedFont>
      <p:font typeface="Proxima Nova"/>
      <p:regular r:id="rId72"/>
      <p:bold r:id="rId73"/>
      <p:italic r:id="rId74"/>
      <p:boldItalic r:id="rId75"/>
    </p:embeddedFont>
    <p:embeddedFont>
      <p:font typeface="Poppins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ProximaNova-bold.fntdata"/><Relationship Id="rId72" Type="http://schemas.openxmlformats.org/officeDocument/2006/relationships/font" Target="fonts/ProximaNova-regular.fntdata"/><Relationship Id="rId31" Type="http://schemas.openxmlformats.org/officeDocument/2006/relationships/slide" Target="slides/slide26.xml"/><Relationship Id="rId75" Type="http://schemas.openxmlformats.org/officeDocument/2006/relationships/font" Target="fonts/ProximaNova-boldItalic.fntdata"/><Relationship Id="rId30" Type="http://schemas.openxmlformats.org/officeDocument/2006/relationships/slide" Target="slides/slide25.xml"/><Relationship Id="rId74" Type="http://schemas.openxmlformats.org/officeDocument/2006/relationships/font" Target="fonts/ProximaNova-italic.fntdata"/><Relationship Id="rId33" Type="http://schemas.openxmlformats.org/officeDocument/2006/relationships/slide" Target="slides/slide28.xml"/><Relationship Id="rId77" Type="http://schemas.openxmlformats.org/officeDocument/2006/relationships/font" Target="fonts/Poppins-bold.fntdata"/><Relationship Id="rId32" Type="http://schemas.openxmlformats.org/officeDocument/2006/relationships/slide" Target="slides/slide27.xml"/><Relationship Id="rId76" Type="http://schemas.openxmlformats.org/officeDocument/2006/relationships/font" Target="fonts/Poppins-regular.fntdata"/><Relationship Id="rId35" Type="http://schemas.openxmlformats.org/officeDocument/2006/relationships/slide" Target="slides/slide30.xml"/><Relationship Id="rId79" Type="http://schemas.openxmlformats.org/officeDocument/2006/relationships/font" Target="fonts/Poppins-boldItalic.fntdata"/><Relationship Id="rId34" Type="http://schemas.openxmlformats.org/officeDocument/2006/relationships/slide" Target="slides/slide29.xml"/><Relationship Id="rId78" Type="http://schemas.openxmlformats.org/officeDocument/2006/relationships/font" Target="fonts/Poppins-italic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fb215b4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fb215b4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fb215b4e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fb215b4e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fb215b4e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fb215b4e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b215b4e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fb215b4e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fb215b4e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fb215b4e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fb215b4e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fb215b4e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fb215b4e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fb215b4e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fb215b4e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fb215b4e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models</a:t>
            </a:r>
            <a:br>
              <a:rPr lang="en"/>
            </a:br>
            <a:r>
              <a:rPr lang="en"/>
              <a:t>1. Transformer</a:t>
            </a:r>
            <a:br>
              <a:rPr lang="en"/>
            </a:br>
            <a:r>
              <a:rPr lang="en"/>
              <a:t>2. Diffusion models</a:t>
            </a:r>
            <a:br>
              <a:rPr lang="en"/>
            </a:br>
            <a:r>
              <a:rPr lang="en"/>
              <a:t>3. Vision Transformer</a:t>
            </a:r>
            <a:br>
              <a:rPr lang="en"/>
            </a:br>
            <a:br>
              <a:rPr lang="en"/>
            </a:br>
            <a:r>
              <a:rPr lang="en"/>
              <a:t>Learning Algorithms</a:t>
            </a:r>
            <a:br>
              <a:rPr lang="en"/>
            </a:br>
            <a:r>
              <a:rPr lang="en"/>
              <a:t>1. RLHF</a:t>
            </a:r>
            <a:br>
              <a:rPr lang="en"/>
            </a:br>
            <a:r>
              <a:rPr lang="en"/>
              <a:t>2. </a:t>
            </a:r>
            <a:r>
              <a:rPr lang="en"/>
              <a:t>Constitutional</a:t>
            </a:r>
            <a:r>
              <a:rPr lang="en"/>
              <a:t> AI</a:t>
            </a:r>
            <a:br>
              <a:rPr lang="en"/>
            </a:br>
            <a:r>
              <a:rPr lang="en"/>
              <a:t>3. Mixture of Experts</a:t>
            </a:r>
            <a:br>
              <a:rPr lang="en"/>
            </a:br>
            <a:r>
              <a:rPr lang="en"/>
              <a:t>4. CLIP</a:t>
            </a:r>
            <a:br>
              <a:rPr lang="en"/>
            </a:br>
            <a:br>
              <a:rPr lang="en"/>
            </a:br>
            <a:r>
              <a:rPr lang="en"/>
              <a:t>Training techniques</a:t>
            </a:r>
            <a:br>
              <a:rPr lang="en"/>
            </a:br>
            <a:r>
              <a:rPr lang="en"/>
              <a:t>1. Mixed Presicion Training</a:t>
            </a:r>
            <a:br>
              <a:rPr lang="en"/>
            </a:br>
            <a:r>
              <a:rPr lang="en"/>
              <a:t>2. ZeRO Optimizer</a:t>
            </a:r>
            <a:br>
              <a:rPr lang="en"/>
            </a:br>
            <a:r>
              <a:rPr lang="en"/>
              <a:t>3. Flash attention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fb215b4e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fb215b4e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fb215b4e4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fb215b4e4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fb215b4e4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9fb215b4e4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fb215b4e4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fb215b4e4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fb215b4e4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fb215b4e4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fb215b4e4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9fb215b4e4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fb215b4e4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9fb215b4e4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9fb215b4e4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9fb215b4e4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9fb215b4e4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9fb215b4e4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fb215b4e4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9fb215b4e4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fb215b4e4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9fb215b4e4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9fb215b4e4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9fb215b4e4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9fb215b4e4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9fb215b4e4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9fb215b4e4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9fb215b4e4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9fb215b4e4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9fb215b4e4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9fb215b4e4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9fb215b4e4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9fb215b4e4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9fb215b4e4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9fb215b4e4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9fb215b4e4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9fb215b4e4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9fb215b4e4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9fb215b4e4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9fb215b4e4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9fb215b4e4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9fb215b4e4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9fb215b4e4_0_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9fb215b4e4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9fb215b4e4_0_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9fb215b4e4_0_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4d90d57b49153e8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4d90d57b49153e8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9fb215b4e4_0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9fb215b4e4_0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9fb215b4e4_0_1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39fb215b4e4_0_1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9fb215b4e4_0_10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9fb215b4e4_0_1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9fb215b4e4_0_1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39fb215b4e4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9fb215b4e4_0_1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9fb215b4e4_0_1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9fb215b4e4_0_1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39fb215b4e4_0_1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9fb215b4e4_0_1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39fb215b4e4_0_1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9fb215b4e4_0_1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39fb215b4e4_0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9fb215b4e4_0_1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39fb215b4e4_0_1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9fb215b4e4_0_1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39fb215b4e4_0_1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9fb215b4e4_0_1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39fb215b4e4_0_1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9fb215b4e4_0_1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39fb215b4e4_0_1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9fb215b4e4_0_1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39fb215b4e4_0_1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39fb215b4e4_0_1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39fb215b4e4_0_1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39fb215b4e4_0_1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39fb215b4e4_0_1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39fb215b4e4_0_1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39fb215b4e4_0_1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39fb215b4e4_0_1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39fb215b4e4_0_1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39fb215b4e4_0_1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39fb215b4e4_0_1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39fb215b4e4_0_1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39fb215b4e4_0_1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39fb215b4e4_0_1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39fb215b4e4_0_1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39fb215b4e4_0_1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39fb215b4e4_0_1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39fb215b4e4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39fb215b4e4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39fb215b4e4_0_1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39fb215b4e4_0_1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39fb215b4e4_0_1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39fb215b4e4_0_1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39fb215b4e4_0_1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39fb215b4e4_0_1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g39fb215b4e4_0_1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g39fb215b4e4_0_1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39fb215b4e4_0_1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9" name="Google Shape;1649;g39fb215b4e4_0_1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39fb215b4e4_0_1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6" name="Google Shape;1686;g39fb215b4e4_0_1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39fb215b4e4_0_1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3" name="Google Shape;1723;g39fb215b4e4_0_1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39fb215b4e4_0_1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39fb215b4e4_0_1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39fb215b4e4_0_2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39fb215b4e4_0_2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g39fb215b4e4_0_2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3" name="Google Shape;1833;g39fb215b4e4_0_2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g4d90d57b49153e8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0" name="Google Shape;1870;g4d90d57b49153e8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g4d90d57b49153e8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4d90d57b49153e8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A Few Questions!</a:t>
            </a:r>
            <a:endParaRPr b="1" sz="40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416100" y="1279175"/>
            <a:ext cx="8520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GenAI has become really </a:t>
            </a: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important?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16100" y="2059775"/>
            <a:ext cx="8416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Struggling with the pace at which it is growing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21249" y="2820750"/>
            <a:ext cx="75297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Struggling to define a learning path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A Teacher’s </a:t>
            </a:r>
            <a:r>
              <a:rPr b="1" lang="en" sz="4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Perspective</a:t>
            </a:r>
            <a:endParaRPr b="1" sz="40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964461" y="1174400"/>
            <a:ext cx="8520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We are also in the same boat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964461" y="1897850"/>
            <a:ext cx="8416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My goal for 2025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969610" y="2649300"/>
            <a:ext cx="75297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Barely covered 20 percent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964462" y="3395020"/>
            <a:ext cx="4565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Hopped playlist for playlist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964462" y="4128445"/>
            <a:ext cx="4565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Got frustrated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Need for a Roadmap</a:t>
            </a:r>
            <a:endParaRPr b="1" sz="40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689183" y="1174400"/>
            <a:ext cx="8520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My realization - I need a roadmap!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689183" y="1897850"/>
            <a:ext cx="8416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Roadmap or Map?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94333" y="2649300"/>
            <a:ext cx="86655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Spent last 30 days building a map/mental model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689185" y="3395020"/>
            <a:ext cx="4565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Worked wonders for me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689185" y="4128445"/>
            <a:ext cx="4565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Going to share it with you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The Promise!</a:t>
            </a:r>
            <a:endParaRPr b="1" sz="40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832806" y="1174400"/>
            <a:ext cx="8520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Full picture of Gen AI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832806" y="1897850"/>
            <a:ext cx="8416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Fit any term on the map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837956" y="2649300"/>
            <a:ext cx="75297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Locate yourself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832808" y="3395020"/>
            <a:ext cx="4565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Feel literate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Target Audience</a:t>
            </a:r>
            <a:endParaRPr b="1" sz="40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892649" y="1174400"/>
            <a:ext cx="8520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Each and everyone!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892649" y="1897850"/>
            <a:ext cx="8416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You have to just 2 things: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1505249" y="2649300"/>
            <a:ext cx="6922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Watch the entire video</a:t>
            </a:r>
            <a:endParaRPr sz="2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1524299" y="3223575"/>
            <a:ext cx="39528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Test the map</a:t>
            </a:r>
            <a:endParaRPr sz="2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/>
        </p:nvSpPr>
        <p:spPr>
          <a:xfrm>
            <a:off x="1257300" y="1920075"/>
            <a:ext cx="7372500" cy="14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Generative AI</a:t>
            </a:r>
            <a:endParaRPr b="1" sz="8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2" name="Google Shape;112;p18"/>
          <p:cNvSpPr txBox="1"/>
          <p:nvPr/>
        </p:nvSpPr>
        <p:spPr>
          <a:xfrm>
            <a:off x="2609850" y="1085850"/>
            <a:ext cx="51339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Map of</a:t>
            </a:r>
            <a:endParaRPr b="1" sz="5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18" name="Google Shape;118;p19" title="Screenshot 2025-10-30 at 6.10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10448"/>
            <a:ext cx="5935875" cy="560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/>
        </p:nvSpPr>
        <p:spPr>
          <a:xfrm>
            <a:off x="5935875" y="260000"/>
            <a:ext cx="30000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This diagram can organise the entire GenAI Landscape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5935875" y="1403000"/>
            <a:ext cx="30000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Divided into 2 parts: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Layers</a:t>
            </a: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&amp; </a:t>
            </a:r>
            <a:r>
              <a:rPr b="1"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Dimensions</a:t>
            </a:r>
            <a:endParaRPr b="1"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26" name="Google Shape;126;p20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27" name="Google Shape;127;p20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28" name="Google Shape;128;p20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29" name="Google Shape;129;p20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20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Research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5146496" y="777964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The What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5146500" y="1232758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The birthplace of core AI innovations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5146496" y="1997164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Purpose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5146500" y="2451942"/>
            <a:ext cx="3830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To develop new models, learning algorithms &amp; training techniques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5146502" y="3587402"/>
            <a:ext cx="2405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Who Works Here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5146500" y="4042184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Researchers in Academic Institutions &amp; Research Labs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42" name="Google Shape;142;p21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43" name="Google Shape;143;p21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44" name="Google Shape;144;p21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45" name="Google Shape;145;p21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1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Research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5146496" y="682215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Focus Areas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5314060" y="1172915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New Model Architectures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5314060" y="1582240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Optimization Techniques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5314060" y="2007923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Alignment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5314060" y="2453155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Multimodality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5314060" y="2898386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Interpretability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5314060" y="3348006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Emergant Phenomena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5146496" y="3831549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Output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5146500" y="4297126"/>
            <a:ext cx="37692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Research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Papers, Datasets &amp; Benchmarks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61" name="Google Shape;161;p22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62" name="Google Shape;162;p22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63" name="Google Shape;163;p22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64" name="Google Shape;164;p22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2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Foundation</a:t>
            </a: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67" name="Google Shape;167;p22"/>
          <p:cNvCxnSpPr>
            <a:endCxn id="166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" name="Google Shape;168;p22"/>
          <p:cNvSpPr txBox="1"/>
          <p:nvPr/>
        </p:nvSpPr>
        <p:spPr>
          <a:xfrm>
            <a:off x="5146496" y="730090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The What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5146500" y="1184883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This is where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research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ideas are converted to large scale AI models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5146496" y="2152756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Purpose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5146500" y="2607537"/>
            <a:ext cx="3830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To </a:t>
            </a: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train, align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fine-tune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powerful foundation models that others can use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5146502" y="3647245"/>
            <a:ext cx="2405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Who Works Here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5146500" y="4102027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Applied Scientists, data scientists, and ML engineers in big tech labs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79" name="Google Shape;179;p23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80" name="Google Shape;180;p23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81" name="Google Shape;181;p23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82" name="Google Shape;182;p23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23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Foundation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85" name="Google Shape;185;p23"/>
          <p:cNvCxnSpPr>
            <a:endCxn id="184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p23"/>
          <p:cNvSpPr txBox="1"/>
          <p:nvPr/>
        </p:nvSpPr>
        <p:spPr>
          <a:xfrm>
            <a:off x="5146496" y="825838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Focus Areas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5314060" y="1316538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Data Preparation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5314060" y="1725863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Model Implementation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5314060" y="2151546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Distributed Training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5314060" y="2596778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Evaluation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5314060" y="3042009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Alignment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p23"/>
          <p:cNvSpPr txBox="1"/>
          <p:nvPr/>
        </p:nvSpPr>
        <p:spPr>
          <a:xfrm>
            <a:off x="5314060" y="3491629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Fine Tuning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98" name="Google Shape;198;p24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99" name="Google Shape;199;p24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200" name="Google Shape;200;p24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201" name="Google Shape;201;p24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24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Foundation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204" name="Google Shape;204;p24"/>
          <p:cNvCxnSpPr>
            <a:endCxn id="203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24"/>
          <p:cNvSpPr txBox="1"/>
          <p:nvPr/>
        </p:nvSpPr>
        <p:spPr>
          <a:xfrm>
            <a:off x="5146503" y="777975"/>
            <a:ext cx="2776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Dependencies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206" name="Google Shape;206;p24"/>
          <p:cNvSpPr txBox="1"/>
          <p:nvPr/>
        </p:nvSpPr>
        <p:spPr>
          <a:xfrm>
            <a:off x="5146500" y="1232758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Research innovations,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Massive datasets, Compute and Capital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24"/>
          <p:cNvSpPr txBox="1"/>
          <p:nvPr/>
        </p:nvSpPr>
        <p:spPr>
          <a:xfrm>
            <a:off x="5146496" y="1997164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Output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5146500" y="2451946"/>
            <a:ext cx="3830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Base models, Aligned models &amp; Fine tuned models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214" name="Google Shape;214;p25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215" name="Google Shape;215;p25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216" name="Google Shape;216;p25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217" name="Google Shape;217;p25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25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219" name="Google Shape;219;p25"/>
          <p:cNvCxnSpPr>
            <a:endCxn id="218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25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221" name="Google Shape;221;p25"/>
          <p:cNvCxnSpPr>
            <a:endCxn id="220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25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Platform</a:t>
            </a: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3" name="Google Shape;223;p25"/>
          <p:cNvSpPr txBox="1"/>
          <p:nvPr/>
        </p:nvSpPr>
        <p:spPr>
          <a:xfrm>
            <a:off x="5146496" y="777964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The What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5146500" y="1232750"/>
            <a:ext cx="39975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This layer brings foundation models online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5" name="Google Shape;225;p25"/>
          <p:cNvSpPr txBox="1"/>
          <p:nvPr/>
        </p:nvSpPr>
        <p:spPr>
          <a:xfrm>
            <a:off x="5146496" y="2068976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Purpose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5146500" y="2523757"/>
            <a:ext cx="3830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To provide easy, reliable &amp; scalable access to Foundation models through APIs and tools.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p25"/>
          <p:cNvSpPr txBox="1"/>
          <p:nvPr/>
        </p:nvSpPr>
        <p:spPr>
          <a:xfrm>
            <a:off x="5146502" y="3563465"/>
            <a:ext cx="2405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Who Works Here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228" name="Google Shape;228;p25"/>
          <p:cNvSpPr txBox="1"/>
          <p:nvPr/>
        </p:nvSpPr>
        <p:spPr>
          <a:xfrm>
            <a:off x="5146500" y="4018247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Platform engineers, API developers, MLOps specialists, cloud architects, and PMs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234" name="Google Shape;234;p26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235" name="Google Shape;235;p26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236" name="Google Shape;236;p26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237" name="Google Shape;237;p26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26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239" name="Google Shape;239;p26"/>
          <p:cNvCxnSpPr>
            <a:endCxn id="238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0" name="Google Shape;240;p26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241" name="Google Shape;241;p26"/>
          <p:cNvCxnSpPr>
            <a:endCxn id="240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2" name="Google Shape;242;p26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Platform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26"/>
          <p:cNvSpPr txBox="1"/>
          <p:nvPr/>
        </p:nvSpPr>
        <p:spPr>
          <a:xfrm>
            <a:off x="5146499" y="825850"/>
            <a:ext cx="3686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Type of Foundation Model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244" name="Google Shape;244;p26"/>
          <p:cNvSpPr txBox="1"/>
          <p:nvPr/>
        </p:nvSpPr>
        <p:spPr>
          <a:xfrm>
            <a:off x="5314060" y="1316538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Proprietary Models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26"/>
          <p:cNvSpPr txBox="1"/>
          <p:nvPr/>
        </p:nvSpPr>
        <p:spPr>
          <a:xfrm>
            <a:off x="5314060" y="1725863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Open Source Models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p26"/>
          <p:cNvSpPr txBox="1"/>
          <p:nvPr/>
        </p:nvSpPr>
        <p:spPr>
          <a:xfrm>
            <a:off x="5146499" y="2349850"/>
            <a:ext cx="3686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Delivery Modes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247" name="Google Shape;247;p26"/>
          <p:cNvSpPr txBox="1"/>
          <p:nvPr/>
        </p:nvSpPr>
        <p:spPr>
          <a:xfrm>
            <a:off x="5314060" y="2840538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Model APIs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5314060" y="3249863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Cloud AI Platforms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5314060" y="3678738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Self Hosted Models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5314060" y="4088063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Hosting &amp; Acc Services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7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256" name="Google Shape;256;p27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257" name="Google Shape;257;p27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258" name="Google Shape;258;p27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259" name="Google Shape;259;p27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27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261" name="Google Shape;261;p27"/>
          <p:cNvCxnSpPr>
            <a:endCxn id="260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2" name="Google Shape;262;p27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263" name="Google Shape;263;p27"/>
          <p:cNvCxnSpPr>
            <a:endCxn id="262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" name="Google Shape;264;p27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Platform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" name="Google Shape;265;p27"/>
          <p:cNvSpPr txBox="1"/>
          <p:nvPr/>
        </p:nvSpPr>
        <p:spPr>
          <a:xfrm>
            <a:off x="5146496" y="825838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Focus Areas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266" name="Google Shape;266;p27"/>
          <p:cNvSpPr txBox="1"/>
          <p:nvPr/>
        </p:nvSpPr>
        <p:spPr>
          <a:xfrm>
            <a:off x="5314060" y="1316538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Model Serving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" name="Google Shape;267;p27"/>
          <p:cNvSpPr txBox="1"/>
          <p:nvPr/>
        </p:nvSpPr>
        <p:spPr>
          <a:xfrm>
            <a:off x="5314060" y="1725863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Inference Optimization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8" name="Google Shape;268;p27"/>
          <p:cNvSpPr txBox="1"/>
          <p:nvPr/>
        </p:nvSpPr>
        <p:spPr>
          <a:xfrm>
            <a:off x="5314060" y="2151546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API &amp; SDK Development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p27"/>
          <p:cNvSpPr txBox="1"/>
          <p:nvPr/>
        </p:nvSpPr>
        <p:spPr>
          <a:xfrm>
            <a:off x="5314060" y="2596778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Deployment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p27"/>
          <p:cNvSpPr txBox="1"/>
          <p:nvPr/>
        </p:nvSpPr>
        <p:spPr>
          <a:xfrm>
            <a:off x="5314060" y="3042009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Scalability Management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p27"/>
          <p:cNvSpPr txBox="1"/>
          <p:nvPr/>
        </p:nvSpPr>
        <p:spPr>
          <a:xfrm>
            <a:off x="5314060" y="3491629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Performance Monitoring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277" name="Google Shape;277;p28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278" name="Google Shape;278;p28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279" name="Google Shape;279;p28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280" name="Google Shape;280;p28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28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282" name="Google Shape;282;p28"/>
          <p:cNvCxnSpPr>
            <a:endCxn id="281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" name="Google Shape;283;p28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284" name="Google Shape;284;p28"/>
          <p:cNvCxnSpPr>
            <a:endCxn id="283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5" name="Google Shape;285;p28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Platform</a:t>
            </a: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6" name="Google Shape;286;p28"/>
          <p:cNvSpPr txBox="1"/>
          <p:nvPr/>
        </p:nvSpPr>
        <p:spPr>
          <a:xfrm>
            <a:off x="5146503" y="777975"/>
            <a:ext cx="2776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Dependencies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287" name="Google Shape;287;p28"/>
          <p:cNvSpPr txBox="1"/>
          <p:nvPr/>
        </p:nvSpPr>
        <p:spPr>
          <a:xfrm>
            <a:off x="5146496" y="3760536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Output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288" name="Google Shape;288;p28"/>
          <p:cNvSpPr txBox="1"/>
          <p:nvPr/>
        </p:nvSpPr>
        <p:spPr>
          <a:xfrm>
            <a:off x="5146500" y="4215317"/>
            <a:ext cx="3830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Model APIs &amp; SDKs, tools like Ollama, services like AWS Bedrock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9" name="Google Shape;289;p28"/>
          <p:cNvSpPr txBox="1"/>
          <p:nvPr/>
        </p:nvSpPr>
        <p:spPr>
          <a:xfrm>
            <a:off x="5314060" y="1268663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Trained models from the previous layer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314060" y="1993561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Infrastructure - GPU servers, network bw, storage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314060" y="2702101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Tools - Kubernetes, docker for deployment, FastAPI for development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297" name="Google Shape;297;p29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298" name="Google Shape;298;p29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299" name="Google Shape;299;p29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300" name="Google Shape;300;p29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29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302" name="Google Shape;302;p29"/>
          <p:cNvCxnSpPr>
            <a:endCxn id="301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3" name="Google Shape;303;p29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304" name="Google Shape;304;p29"/>
          <p:cNvCxnSpPr>
            <a:endCxn id="303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5" name="Google Shape;305;p29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Builder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307" name="Google Shape;307;p29"/>
          <p:cNvCxnSpPr>
            <a:endCxn id="306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" name="Google Shape;308;p29"/>
          <p:cNvSpPr txBox="1"/>
          <p:nvPr/>
        </p:nvSpPr>
        <p:spPr>
          <a:xfrm>
            <a:off x="5146496" y="765996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The What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309" name="Google Shape;309;p29"/>
          <p:cNvSpPr txBox="1"/>
          <p:nvPr/>
        </p:nvSpPr>
        <p:spPr>
          <a:xfrm>
            <a:off x="5146500" y="1220781"/>
            <a:ext cx="39975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This is where intelligence takes shape into usable systems.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0" name="Google Shape;310;p29"/>
          <p:cNvSpPr txBox="1"/>
          <p:nvPr/>
        </p:nvSpPr>
        <p:spPr>
          <a:xfrm>
            <a:off x="5146496" y="2068976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Purpose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146500" y="2523757"/>
            <a:ext cx="3830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To build intelligent workflows and applications by combining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Models, tools and logic.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146502" y="3563465"/>
            <a:ext cx="2405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Who Works Here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5146500" y="4018247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AI engineers, app developers, prompt designers, and system architects.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319" name="Google Shape;319;p30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320" name="Google Shape;320;p30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321" name="Google Shape;321;p30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322" name="Google Shape;322;p30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30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324" name="Google Shape;324;p30"/>
          <p:cNvCxnSpPr>
            <a:endCxn id="323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" name="Google Shape;325;p30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326" name="Google Shape;326;p30"/>
          <p:cNvCxnSpPr>
            <a:endCxn id="325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" name="Google Shape;327;p30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Builder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329" name="Google Shape;329;p30"/>
          <p:cNvCxnSpPr>
            <a:endCxn id="328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0" name="Google Shape;330;p30"/>
          <p:cNvSpPr txBox="1"/>
          <p:nvPr/>
        </p:nvSpPr>
        <p:spPr>
          <a:xfrm>
            <a:off x="5146496" y="825838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Focus Areas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5314060" y="1316538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Prompt Engineering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2" name="Google Shape;332;p30"/>
          <p:cNvSpPr txBox="1"/>
          <p:nvPr/>
        </p:nvSpPr>
        <p:spPr>
          <a:xfrm>
            <a:off x="5314060" y="1737093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RAG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3" name="Google Shape;333;p30"/>
          <p:cNvSpPr txBox="1"/>
          <p:nvPr/>
        </p:nvSpPr>
        <p:spPr>
          <a:xfrm>
            <a:off x="5314060" y="2182324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Memory Management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314060" y="2627555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Agentic AI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314060" y="3077175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Context Engineering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1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341" name="Google Shape;341;p31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342" name="Google Shape;342;p31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343" name="Google Shape;343;p31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344" name="Google Shape;344;p31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" name="Google Shape;345;p31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346" name="Google Shape;346;p31"/>
          <p:cNvCxnSpPr>
            <a:endCxn id="345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31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348" name="Google Shape;348;p31"/>
          <p:cNvCxnSpPr>
            <a:endCxn id="347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" name="Google Shape;349;p31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Builder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0" name="Google Shape;350;p31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351" name="Google Shape;351;p31"/>
          <p:cNvCxnSpPr>
            <a:endCxn id="350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" name="Google Shape;352;p31"/>
          <p:cNvCxnSpPr>
            <a:stCxn id="343" idx="1"/>
            <a:endCxn id="350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31"/>
          <p:cNvSpPr txBox="1"/>
          <p:nvPr/>
        </p:nvSpPr>
        <p:spPr>
          <a:xfrm>
            <a:off x="5146503" y="777975"/>
            <a:ext cx="2776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Dependencies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354" name="Google Shape;354;p31"/>
          <p:cNvSpPr txBox="1"/>
          <p:nvPr/>
        </p:nvSpPr>
        <p:spPr>
          <a:xfrm>
            <a:off x="5146496" y="3449353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Output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355" name="Google Shape;355;p31"/>
          <p:cNvSpPr txBox="1"/>
          <p:nvPr/>
        </p:nvSpPr>
        <p:spPr>
          <a:xfrm>
            <a:off x="5194374" y="4352769"/>
            <a:ext cx="38301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Libraries, Frameworks &amp; SDKs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p31"/>
          <p:cNvSpPr txBox="1"/>
          <p:nvPr/>
        </p:nvSpPr>
        <p:spPr>
          <a:xfrm>
            <a:off x="5314060" y="1268663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Model from Platform Layer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314060" y="1814032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Input from Research Layer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314060" y="2355012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Data &amp; Context sources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5314060" y="2888412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Compute &amp; runtime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0" name="Google Shape;360;p31"/>
          <p:cNvSpPr txBox="1"/>
          <p:nvPr/>
        </p:nvSpPr>
        <p:spPr>
          <a:xfrm>
            <a:off x="5194374" y="3895569"/>
            <a:ext cx="38301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Ideas and Techniques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2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366" name="Google Shape;366;p32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367" name="Google Shape;367;p32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368" name="Google Shape;368;p32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32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370" name="Google Shape;370;p32"/>
          <p:cNvCxnSpPr>
            <a:endCxn id="369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" name="Google Shape;371;p32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372" name="Google Shape;372;p32"/>
          <p:cNvCxnSpPr>
            <a:endCxn id="371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3" name="Google Shape;373;p32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Application</a:t>
            </a: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4" name="Google Shape;374;p32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375" name="Google Shape;375;p32"/>
          <p:cNvCxnSpPr>
            <a:endCxn id="374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6" name="Google Shape;376;p32"/>
          <p:cNvCxnSpPr>
            <a:stCxn id="367" idx="1"/>
            <a:endCxn id="374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32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378" name="Google Shape;378;p32"/>
          <p:cNvCxnSpPr>
            <a:endCxn id="377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9" name="Google Shape;379;p32"/>
          <p:cNvSpPr txBox="1"/>
          <p:nvPr/>
        </p:nvSpPr>
        <p:spPr>
          <a:xfrm>
            <a:off x="5146496" y="765996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The What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380" name="Google Shape;380;p32"/>
          <p:cNvSpPr txBox="1"/>
          <p:nvPr/>
        </p:nvSpPr>
        <p:spPr>
          <a:xfrm>
            <a:off x="5146500" y="1220781"/>
            <a:ext cx="39975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This is where AI capabilities are packaged into end user products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1" name="Google Shape;381;p32"/>
          <p:cNvSpPr txBox="1"/>
          <p:nvPr/>
        </p:nvSpPr>
        <p:spPr>
          <a:xfrm>
            <a:off x="5146496" y="2068976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Purpose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382" name="Google Shape;382;p32"/>
          <p:cNvSpPr txBox="1"/>
          <p:nvPr/>
        </p:nvSpPr>
        <p:spPr>
          <a:xfrm>
            <a:off x="5146500" y="2523757"/>
            <a:ext cx="3830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To build AI native and AI integrated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for the users.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3" name="Google Shape;383;p32"/>
          <p:cNvSpPr txBox="1"/>
          <p:nvPr/>
        </p:nvSpPr>
        <p:spPr>
          <a:xfrm>
            <a:off x="5146502" y="3563465"/>
            <a:ext cx="2405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Who Works Here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384" name="Google Shape;384;p32"/>
          <p:cNvSpPr txBox="1"/>
          <p:nvPr/>
        </p:nvSpPr>
        <p:spPr>
          <a:xfrm>
            <a:off x="5146500" y="4018252"/>
            <a:ext cx="3830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AI engineers, Full stack developers, UI/UX designers, and Product managers.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85" name="Google Shape;385;p32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3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391" name="Google Shape;391;p33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392" name="Google Shape;392;p33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393" name="Google Shape;393;p33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33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395" name="Google Shape;395;p33"/>
          <p:cNvCxnSpPr>
            <a:endCxn id="394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6" name="Google Shape;396;p33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397" name="Google Shape;397;p33"/>
          <p:cNvCxnSpPr>
            <a:endCxn id="396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8" name="Google Shape;398;p33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Application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9" name="Google Shape;399;p33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400" name="Google Shape;400;p33"/>
          <p:cNvCxnSpPr>
            <a:endCxn id="399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1" name="Google Shape;401;p33"/>
          <p:cNvCxnSpPr>
            <a:stCxn id="392" idx="1"/>
            <a:endCxn id="399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33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403" name="Google Shape;403;p33"/>
          <p:cNvCxnSpPr>
            <a:endCxn id="402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4" name="Google Shape;404;p33"/>
          <p:cNvSpPr txBox="1"/>
          <p:nvPr/>
        </p:nvSpPr>
        <p:spPr>
          <a:xfrm>
            <a:off x="5146496" y="825838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Focus Areas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405" name="Google Shape;405;p33"/>
          <p:cNvSpPr txBox="1"/>
          <p:nvPr/>
        </p:nvSpPr>
        <p:spPr>
          <a:xfrm>
            <a:off x="5314060" y="1316538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Productization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6" name="Google Shape;406;p33"/>
          <p:cNvSpPr txBox="1"/>
          <p:nvPr/>
        </p:nvSpPr>
        <p:spPr>
          <a:xfrm>
            <a:off x="5314060" y="1738951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Safety &amp; Alignment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7" name="Google Shape;407;p33"/>
          <p:cNvSpPr txBox="1"/>
          <p:nvPr/>
        </p:nvSpPr>
        <p:spPr>
          <a:xfrm>
            <a:off x="5314060" y="2184182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Performance Optimization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08" name="Google Shape;408;p33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33"/>
          <p:cNvSpPr txBox="1"/>
          <p:nvPr/>
        </p:nvSpPr>
        <p:spPr>
          <a:xfrm>
            <a:off x="5146496" y="3046858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Output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410" name="Google Shape;410;p33"/>
          <p:cNvSpPr txBox="1"/>
          <p:nvPr/>
        </p:nvSpPr>
        <p:spPr>
          <a:xfrm>
            <a:off x="5146500" y="3501639"/>
            <a:ext cx="3830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Production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ready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AI products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4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416" name="Google Shape;416;p34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417" name="Google Shape;417;p34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418" name="Google Shape;418;p34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419" name="Google Shape;419;p34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34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421" name="Google Shape;421;p34"/>
          <p:cNvCxnSpPr>
            <a:endCxn id="420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2" name="Google Shape;422;p34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423" name="Google Shape;423;p34"/>
          <p:cNvCxnSpPr>
            <a:endCxn id="422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4" name="Google Shape;424;p34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Operation</a:t>
            </a: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5" name="Google Shape;425;p34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426" name="Google Shape;426;p34"/>
          <p:cNvCxnSpPr>
            <a:endCxn id="425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" name="Google Shape;427;p34"/>
          <p:cNvCxnSpPr>
            <a:stCxn id="418" idx="1"/>
            <a:endCxn id="425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34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429" name="Google Shape;429;p34"/>
          <p:cNvCxnSpPr>
            <a:endCxn id="428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" name="Google Shape;430;p34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34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432" name="Google Shape;432;p34"/>
          <p:cNvCxnSpPr>
            <a:endCxn id="431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3" name="Google Shape;433;p34"/>
          <p:cNvSpPr txBox="1"/>
          <p:nvPr/>
        </p:nvSpPr>
        <p:spPr>
          <a:xfrm>
            <a:off x="5146496" y="682215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The What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434" name="Google Shape;434;p34"/>
          <p:cNvSpPr txBox="1"/>
          <p:nvPr/>
        </p:nvSpPr>
        <p:spPr>
          <a:xfrm>
            <a:off x="5146500" y="1137001"/>
            <a:ext cx="39975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This is where AI systems are deployed, monitored, and managed in production.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5" name="Google Shape;435;p34"/>
          <p:cNvSpPr txBox="1"/>
          <p:nvPr/>
        </p:nvSpPr>
        <p:spPr>
          <a:xfrm>
            <a:off x="5146496" y="2068976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Purpose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436" name="Google Shape;436;p34"/>
          <p:cNvSpPr txBox="1"/>
          <p:nvPr/>
        </p:nvSpPr>
        <p:spPr>
          <a:xfrm>
            <a:off x="5146500" y="2523757"/>
            <a:ext cx="3830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To keep AI systems stable, scalable, and continuously improving in real-world use.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7" name="Google Shape;437;p34"/>
          <p:cNvSpPr txBox="1"/>
          <p:nvPr/>
        </p:nvSpPr>
        <p:spPr>
          <a:xfrm>
            <a:off x="5146502" y="3563465"/>
            <a:ext cx="2405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Who Works Here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438" name="Google Shape;438;p34"/>
          <p:cNvSpPr txBox="1"/>
          <p:nvPr/>
        </p:nvSpPr>
        <p:spPr>
          <a:xfrm>
            <a:off x="5146500" y="4018252"/>
            <a:ext cx="3830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MLOps Engineer, DevOps Engineer, SRE, Cloud Architects, Security experts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5"/>
          <p:cNvSpPr/>
          <p:nvPr/>
        </p:nvSpPr>
        <p:spPr>
          <a:xfrm>
            <a:off x="2049700" y="1927050"/>
            <a:ext cx="2082600" cy="198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5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445" name="Google Shape;445;p35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446" name="Google Shape;446;p35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447" name="Google Shape;447;p35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8" name="Google Shape;448;p35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449" name="Google Shape;449;p35"/>
          <p:cNvCxnSpPr>
            <a:endCxn id="448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0" name="Google Shape;450;p35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451" name="Google Shape;451;p35"/>
          <p:cNvCxnSpPr>
            <a:endCxn id="450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2" name="Google Shape;452;p35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Operation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" name="Google Shape;453;p35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454" name="Google Shape;454;p35"/>
          <p:cNvCxnSpPr>
            <a:endCxn id="453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5" name="Google Shape;455;p35"/>
          <p:cNvCxnSpPr>
            <a:stCxn id="446" idx="1"/>
            <a:endCxn id="453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35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457" name="Google Shape;457;p35"/>
          <p:cNvCxnSpPr>
            <a:endCxn id="456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8" name="Google Shape;458;p35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35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460" name="Google Shape;460;p35"/>
          <p:cNvCxnSpPr>
            <a:endCxn id="459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1" name="Google Shape;461;p35"/>
          <p:cNvSpPr txBox="1"/>
          <p:nvPr/>
        </p:nvSpPr>
        <p:spPr>
          <a:xfrm>
            <a:off x="5146496" y="825838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Focus Areas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462" name="Google Shape;462;p35"/>
          <p:cNvSpPr txBox="1"/>
          <p:nvPr/>
        </p:nvSpPr>
        <p:spPr>
          <a:xfrm>
            <a:off x="5314060" y="1316538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Deployment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3" name="Google Shape;463;p35"/>
          <p:cNvSpPr txBox="1"/>
          <p:nvPr/>
        </p:nvSpPr>
        <p:spPr>
          <a:xfrm>
            <a:off x="5314060" y="1725863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Logging &amp; Monitoring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4" name="Google Shape;464;p35"/>
          <p:cNvSpPr txBox="1"/>
          <p:nvPr/>
        </p:nvSpPr>
        <p:spPr>
          <a:xfrm>
            <a:off x="5314060" y="2151546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Evaluation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5" name="Google Shape;465;p35"/>
          <p:cNvSpPr txBox="1"/>
          <p:nvPr/>
        </p:nvSpPr>
        <p:spPr>
          <a:xfrm>
            <a:off x="5314060" y="2584809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Feedback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6" name="Google Shape;466;p35"/>
          <p:cNvSpPr txBox="1"/>
          <p:nvPr/>
        </p:nvSpPr>
        <p:spPr>
          <a:xfrm>
            <a:off x="5146496" y="3202002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Output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467" name="Google Shape;467;p35"/>
          <p:cNvSpPr txBox="1"/>
          <p:nvPr/>
        </p:nvSpPr>
        <p:spPr>
          <a:xfrm>
            <a:off x="5146500" y="3656783"/>
            <a:ext cx="3830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Deployed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AI products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running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reliably at scale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8" name="Google Shape;468;p35"/>
          <p:cNvSpPr txBox="1"/>
          <p:nvPr/>
        </p:nvSpPr>
        <p:spPr>
          <a:xfrm>
            <a:off x="1721755" y="2016771"/>
            <a:ext cx="2901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A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I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En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g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g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6"/>
          <p:cNvSpPr/>
          <p:nvPr/>
        </p:nvSpPr>
        <p:spPr>
          <a:xfrm>
            <a:off x="2049700" y="1927050"/>
            <a:ext cx="2082600" cy="198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6"/>
          <p:cNvSpPr txBox="1"/>
          <p:nvPr/>
        </p:nvSpPr>
        <p:spPr>
          <a:xfrm>
            <a:off x="1721755" y="2016771"/>
            <a:ext cx="2901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A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I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En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g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g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75" name="Google Shape;475;p36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476" name="Google Shape;476;p36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477" name="Google Shape;477;p36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478" name="Google Shape;478;p36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479" name="Google Shape;479;p36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0" name="Google Shape;480;p36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481" name="Google Shape;481;p36"/>
          <p:cNvCxnSpPr>
            <a:endCxn id="480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2" name="Google Shape;482;p36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483" name="Google Shape;483;p36"/>
          <p:cNvCxnSpPr>
            <a:endCxn id="482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4" name="Google Shape;484;p36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Distribution</a:t>
            </a: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5" name="Google Shape;485;p36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486" name="Google Shape;486;p36"/>
          <p:cNvCxnSpPr>
            <a:endCxn id="485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7" name="Google Shape;487;p36"/>
          <p:cNvCxnSpPr>
            <a:stCxn id="478" idx="1"/>
            <a:endCxn id="485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36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489" name="Google Shape;489;p36"/>
          <p:cNvCxnSpPr>
            <a:endCxn id="488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0" name="Google Shape;490;p36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1" name="Google Shape;491;p36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492" name="Google Shape;492;p36"/>
          <p:cNvCxnSpPr>
            <a:endCxn id="491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3" name="Google Shape;493;p36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494" name="Google Shape;494;p36"/>
          <p:cNvCxnSpPr>
            <a:endCxn id="493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5" name="Google Shape;495;p36"/>
          <p:cNvSpPr txBox="1"/>
          <p:nvPr/>
        </p:nvSpPr>
        <p:spPr>
          <a:xfrm>
            <a:off x="5146496" y="682215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The What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496" name="Google Shape;496;p36"/>
          <p:cNvSpPr txBox="1"/>
          <p:nvPr/>
        </p:nvSpPr>
        <p:spPr>
          <a:xfrm>
            <a:off x="5146500" y="1137001"/>
            <a:ext cx="39975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This is where AI products are reaches users through channels, platforms, and marketplaces.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7" name="Google Shape;497;p36"/>
          <p:cNvSpPr txBox="1"/>
          <p:nvPr/>
        </p:nvSpPr>
        <p:spPr>
          <a:xfrm>
            <a:off x="5146496" y="2116850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Purpose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498" name="Google Shape;498;p36"/>
          <p:cNvSpPr txBox="1"/>
          <p:nvPr/>
        </p:nvSpPr>
        <p:spPr>
          <a:xfrm>
            <a:off x="5146500" y="2523757"/>
            <a:ext cx="3830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To scale the reach of AI applications by managing delivery, access, and adoption.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9" name="Google Shape;499;p36"/>
          <p:cNvSpPr txBox="1"/>
          <p:nvPr/>
        </p:nvSpPr>
        <p:spPr>
          <a:xfrm>
            <a:off x="5146502" y="3563465"/>
            <a:ext cx="2405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Who Works Here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500" name="Google Shape;500;p36"/>
          <p:cNvSpPr txBox="1"/>
          <p:nvPr/>
        </p:nvSpPr>
        <p:spPr>
          <a:xfrm>
            <a:off x="5146500" y="4018252"/>
            <a:ext cx="3830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Growth engineers, Marketing teams, product managers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7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506" name="Google Shape;506;p37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507" name="Google Shape;507;p37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508" name="Google Shape;508;p37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509" name="Google Shape;509;p37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37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511" name="Google Shape;511;p37"/>
          <p:cNvCxnSpPr>
            <a:endCxn id="510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2" name="Google Shape;512;p37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513" name="Google Shape;513;p37"/>
          <p:cNvCxnSpPr>
            <a:endCxn id="512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4" name="Google Shape;514;p37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Distribution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5" name="Google Shape;515;p37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516" name="Google Shape;516;p37"/>
          <p:cNvCxnSpPr>
            <a:endCxn id="515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p37"/>
          <p:cNvCxnSpPr>
            <a:stCxn id="508" idx="1"/>
            <a:endCxn id="515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" name="Google Shape;518;p37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519" name="Google Shape;519;p37"/>
          <p:cNvCxnSpPr>
            <a:endCxn id="518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" name="Google Shape;520;p37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37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522" name="Google Shape;522;p37"/>
          <p:cNvCxnSpPr>
            <a:endCxn id="521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3" name="Google Shape;523;p37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524" name="Google Shape;524;p37"/>
          <p:cNvCxnSpPr>
            <a:endCxn id="523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5" name="Google Shape;525;p37"/>
          <p:cNvSpPr txBox="1"/>
          <p:nvPr/>
        </p:nvSpPr>
        <p:spPr>
          <a:xfrm>
            <a:off x="5146496" y="825838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Focus Areas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526" name="Google Shape;526;p37"/>
          <p:cNvSpPr txBox="1"/>
          <p:nvPr/>
        </p:nvSpPr>
        <p:spPr>
          <a:xfrm>
            <a:off x="5314060" y="1316538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Delivery Channels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7" name="Google Shape;527;p37"/>
          <p:cNvSpPr txBox="1"/>
          <p:nvPr/>
        </p:nvSpPr>
        <p:spPr>
          <a:xfrm>
            <a:off x="5314060" y="1725863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Ecosystem Integration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8" name="Google Shape;528;p37"/>
          <p:cNvSpPr txBox="1"/>
          <p:nvPr/>
        </p:nvSpPr>
        <p:spPr>
          <a:xfrm>
            <a:off x="5314060" y="2151546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Strategic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Partnerships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9" name="Google Shape;529;p37"/>
          <p:cNvSpPr txBox="1"/>
          <p:nvPr/>
        </p:nvSpPr>
        <p:spPr>
          <a:xfrm>
            <a:off x="5314060" y="2596778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Marketing &amp; Awareness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0" name="Google Shape;530;p37"/>
          <p:cNvSpPr txBox="1"/>
          <p:nvPr/>
        </p:nvSpPr>
        <p:spPr>
          <a:xfrm>
            <a:off x="5314060" y="3042009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Compliance &amp; Localization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1" name="Google Shape;531;p37"/>
          <p:cNvSpPr txBox="1"/>
          <p:nvPr/>
        </p:nvSpPr>
        <p:spPr>
          <a:xfrm>
            <a:off x="5146496" y="3652819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Output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532" name="Google Shape;532;p37"/>
          <p:cNvSpPr txBox="1"/>
          <p:nvPr/>
        </p:nvSpPr>
        <p:spPr>
          <a:xfrm>
            <a:off x="5146500" y="4107600"/>
            <a:ext cx="3830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Market reach, user adoption and revenue growth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8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538" name="Google Shape;538;p38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539" name="Google Shape;539;p38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540" name="Google Shape;540;p38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541" name="Google Shape;541;p38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2" name="Google Shape;542;p38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543" name="Google Shape;543;p38"/>
          <p:cNvCxnSpPr>
            <a:endCxn id="542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4" name="Google Shape;544;p38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545" name="Google Shape;545;p38"/>
          <p:cNvCxnSpPr>
            <a:endCxn id="544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6" name="Google Shape;546;p38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User</a:t>
            </a: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7" name="Google Shape;547;p38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548" name="Google Shape;548;p38"/>
          <p:cNvCxnSpPr>
            <a:endCxn id="547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9" name="Google Shape;549;p38"/>
          <p:cNvCxnSpPr>
            <a:stCxn id="540" idx="1"/>
            <a:endCxn id="547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0" name="Google Shape;550;p38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551" name="Google Shape;551;p38"/>
          <p:cNvCxnSpPr>
            <a:endCxn id="550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2" name="Google Shape;552;p38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3" name="Google Shape;553;p38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554" name="Google Shape;554;p38"/>
          <p:cNvCxnSpPr>
            <a:endCxn id="553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5" name="Google Shape;555;p38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556" name="Google Shape;556;p38"/>
          <p:cNvCxnSpPr>
            <a:endCxn id="555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7" name="Google Shape;557;p38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558" name="Google Shape;558;p38"/>
          <p:cNvCxnSpPr>
            <a:endCxn id="557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9" name="Google Shape;559;p38"/>
          <p:cNvSpPr txBox="1"/>
          <p:nvPr/>
        </p:nvSpPr>
        <p:spPr>
          <a:xfrm>
            <a:off x="5146496" y="682215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The What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560" name="Google Shape;560;p38"/>
          <p:cNvSpPr txBox="1"/>
          <p:nvPr/>
        </p:nvSpPr>
        <p:spPr>
          <a:xfrm>
            <a:off x="5146500" y="1137001"/>
            <a:ext cx="39975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The user layer is where users interact with AI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1" name="Google Shape;561;p38"/>
          <p:cNvSpPr txBox="1"/>
          <p:nvPr/>
        </p:nvSpPr>
        <p:spPr>
          <a:xfrm>
            <a:off x="5146496" y="1997164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Purpose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562" name="Google Shape;562;p38"/>
          <p:cNvSpPr txBox="1"/>
          <p:nvPr/>
        </p:nvSpPr>
        <p:spPr>
          <a:xfrm>
            <a:off x="5146500" y="2404071"/>
            <a:ext cx="3830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To create value and gather insights &amp; feedback that guide the continuous improvement of AI.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3" name="Google Shape;563;p38"/>
          <p:cNvSpPr txBox="1"/>
          <p:nvPr/>
        </p:nvSpPr>
        <p:spPr>
          <a:xfrm>
            <a:off x="5146502" y="3731025"/>
            <a:ext cx="2405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Who Works Here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564" name="Google Shape;564;p38"/>
          <p:cNvSpPr txBox="1"/>
          <p:nvPr/>
        </p:nvSpPr>
        <p:spPr>
          <a:xfrm>
            <a:off x="5146500" y="4185812"/>
            <a:ext cx="3830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Daily users, professional users, Domain specific users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9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570" name="Google Shape;570;p39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571" name="Google Shape;571;p39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572" name="Google Shape;572;p39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573" name="Google Shape;573;p39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39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575" name="Google Shape;575;p39"/>
          <p:cNvCxnSpPr>
            <a:endCxn id="574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6" name="Google Shape;576;p39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577" name="Google Shape;577;p39"/>
          <p:cNvCxnSpPr>
            <a:endCxn id="576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8" name="Google Shape;578;p39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User Layer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9" name="Google Shape;579;p39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580" name="Google Shape;580;p39"/>
          <p:cNvCxnSpPr>
            <a:endCxn id="579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1" name="Google Shape;581;p39"/>
          <p:cNvCxnSpPr>
            <a:stCxn id="572" idx="1"/>
            <a:endCxn id="579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" name="Google Shape;582;p39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583" name="Google Shape;583;p39"/>
          <p:cNvCxnSpPr>
            <a:endCxn id="582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4" name="Google Shape;584;p39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5" name="Google Shape;585;p39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586" name="Google Shape;586;p39"/>
          <p:cNvCxnSpPr>
            <a:endCxn id="585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7" name="Google Shape;587;p39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588" name="Google Shape;588;p39"/>
          <p:cNvCxnSpPr>
            <a:endCxn id="587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9" name="Google Shape;589;p39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590" name="Google Shape;590;p39"/>
          <p:cNvCxnSpPr>
            <a:endCxn id="589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1" name="Google Shape;591;p39"/>
          <p:cNvSpPr txBox="1"/>
          <p:nvPr/>
        </p:nvSpPr>
        <p:spPr>
          <a:xfrm>
            <a:off x="5146496" y="825838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Focus Areas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592" name="Google Shape;592;p39"/>
          <p:cNvSpPr txBox="1"/>
          <p:nvPr/>
        </p:nvSpPr>
        <p:spPr>
          <a:xfrm>
            <a:off x="5314060" y="1316538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User Interaction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3" name="Google Shape;593;p39"/>
          <p:cNvSpPr txBox="1"/>
          <p:nvPr/>
        </p:nvSpPr>
        <p:spPr>
          <a:xfrm>
            <a:off x="5314060" y="1725863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Personalization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4" name="Google Shape;594;p39"/>
          <p:cNvSpPr txBox="1"/>
          <p:nvPr/>
        </p:nvSpPr>
        <p:spPr>
          <a:xfrm>
            <a:off x="5314060" y="2151546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Prompt Literacy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p39"/>
          <p:cNvSpPr txBox="1"/>
          <p:nvPr/>
        </p:nvSpPr>
        <p:spPr>
          <a:xfrm>
            <a:off x="5314060" y="2596778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Trust &amp; Ethics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p39"/>
          <p:cNvSpPr txBox="1"/>
          <p:nvPr/>
        </p:nvSpPr>
        <p:spPr>
          <a:xfrm>
            <a:off x="5314060" y="3042009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Feedback Collection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p39"/>
          <p:cNvSpPr txBox="1"/>
          <p:nvPr/>
        </p:nvSpPr>
        <p:spPr>
          <a:xfrm>
            <a:off x="5146496" y="3652819"/>
            <a:ext cx="1699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Output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598" name="Google Shape;598;p39"/>
          <p:cNvSpPr txBox="1"/>
          <p:nvPr/>
        </p:nvSpPr>
        <p:spPr>
          <a:xfrm>
            <a:off x="5146500" y="4107600"/>
            <a:ext cx="3830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User data, preferences and behavioral data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604" name="Google Shape;604;p40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605" name="Google Shape;605;p40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606" name="Google Shape;606;p40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607" name="Google Shape;607;p40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8" name="Google Shape;608;p40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609" name="Google Shape;609;p40"/>
          <p:cNvCxnSpPr>
            <a:endCxn id="608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0" name="Google Shape;610;p40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611" name="Google Shape;611;p40"/>
          <p:cNvCxnSpPr>
            <a:endCxn id="610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2" name="Google Shape;612;p40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Feedback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3" name="Google Shape;613;p40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614" name="Google Shape;614;p40"/>
          <p:cNvCxnSpPr>
            <a:endCxn id="613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5" name="Google Shape;615;p40"/>
          <p:cNvCxnSpPr>
            <a:stCxn id="606" idx="1"/>
            <a:endCxn id="613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6" name="Google Shape;616;p40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617" name="Google Shape;617;p40"/>
          <p:cNvCxnSpPr>
            <a:endCxn id="616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8" name="Google Shape;618;p40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9" name="Google Shape;619;p40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620" name="Google Shape;620;p40"/>
          <p:cNvCxnSpPr>
            <a:endCxn id="619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1" name="Google Shape;621;p40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622" name="Google Shape;622;p40"/>
          <p:cNvCxnSpPr>
            <a:endCxn id="621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3" name="Google Shape;623;p40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624" name="Google Shape;624;p40"/>
          <p:cNvCxnSpPr>
            <a:endCxn id="623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5" name="Google Shape;625;p40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6" name="Google Shape;626;p40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7" name="Google Shape;627;p40"/>
          <p:cNvSpPr txBox="1"/>
          <p:nvPr/>
        </p:nvSpPr>
        <p:spPr>
          <a:xfrm>
            <a:off x="5158474" y="825850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User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628" name="Google Shape;628;p40"/>
          <p:cNvSpPr txBox="1"/>
          <p:nvPr/>
        </p:nvSpPr>
        <p:spPr>
          <a:xfrm>
            <a:off x="5242249" y="1268663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Researcher flags fake citations.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9" name="Google Shape;629;p40"/>
          <p:cNvSpPr txBox="1"/>
          <p:nvPr/>
        </p:nvSpPr>
        <p:spPr>
          <a:xfrm>
            <a:off x="5242249" y="1606178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Clicks 👎 and notes “These papers don’t exist.”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0" name="Google Shape;630;p40"/>
          <p:cNvSpPr txBox="1"/>
          <p:nvPr/>
        </p:nvSpPr>
        <p:spPr>
          <a:xfrm>
            <a:off x="5242249" y="2199421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 small action that triggers a massive feedback chain.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1" name="Google Shape;631;p40"/>
          <p:cNvSpPr txBox="1"/>
          <p:nvPr/>
        </p:nvSpPr>
        <p:spPr>
          <a:xfrm>
            <a:off x="5146505" y="2863701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Operation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632" name="Google Shape;632;p40"/>
          <p:cNvSpPr txBox="1"/>
          <p:nvPr/>
        </p:nvSpPr>
        <p:spPr>
          <a:xfrm>
            <a:off x="5218312" y="3318483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Thousands of similar reports detected via dashboards.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40"/>
          <p:cNvSpPr txBox="1"/>
          <p:nvPr/>
        </p:nvSpPr>
        <p:spPr>
          <a:xfrm>
            <a:off x="5218312" y="3883401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Normal Latency and token usage → this isn’t a compute error.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40"/>
          <p:cNvSpPr txBox="1"/>
          <p:nvPr/>
        </p:nvSpPr>
        <p:spPr>
          <a:xfrm>
            <a:off x="5218301" y="4440750"/>
            <a:ext cx="39855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Identified as a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systemic factuality problem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gets escalated.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1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640" name="Google Shape;640;p41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641" name="Google Shape;641;p41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642" name="Google Shape;642;p41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643" name="Google Shape;643;p41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4" name="Google Shape;644;p41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645" name="Google Shape;645;p41"/>
          <p:cNvCxnSpPr>
            <a:endCxn id="644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6" name="Google Shape;646;p41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647" name="Google Shape;647;p41"/>
          <p:cNvCxnSpPr>
            <a:endCxn id="646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8" name="Google Shape;648;p41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Feedback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9" name="Google Shape;649;p41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650" name="Google Shape;650;p41"/>
          <p:cNvCxnSpPr>
            <a:endCxn id="649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1" name="Google Shape;651;p41"/>
          <p:cNvCxnSpPr>
            <a:stCxn id="642" idx="1"/>
            <a:endCxn id="649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2" name="Google Shape;652;p41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653" name="Google Shape;653;p41"/>
          <p:cNvCxnSpPr>
            <a:endCxn id="652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4" name="Google Shape;654;p41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5" name="Google Shape;655;p41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656" name="Google Shape;656;p41"/>
          <p:cNvCxnSpPr>
            <a:endCxn id="655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7" name="Google Shape;657;p41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658" name="Google Shape;658;p41"/>
          <p:cNvCxnSpPr>
            <a:endCxn id="657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9" name="Google Shape;659;p41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660" name="Google Shape;660;p41"/>
          <p:cNvCxnSpPr>
            <a:endCxn id="659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1" name="Google Shape;661;p41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2" name="Google Shape;662;p41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p41"/>
          <p:cNvSpPr txBox="1"/>
          <p:nvPr/>
        </p:nvSpPr>
        <p:spPr>
          <a:xfrm>
            <a:off x="5158474" y="825850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Application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664" name="Google Shape;664;p41"/>
          <p:cNvSpPr txBox="1"/>
          <p:nvPr/>
        </p:nvSpPr>
        <p:spPr>
          <a:xfrm>
            <a:off x="5242250" y="1268671"/>
            <a:ext cx="383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Prompt templates updated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p41"/>
          <p:cNvSpPr txBox="1"/>
          <p:nvPr/>
        </p:nvSpPr>
        <p:spPr>
          <a:xfrm>
            <a:off x="5242249" y="1606178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Product team adds “Verify sources” disclaimer.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6" name="Google Shape;666;p41"/>
          <p:cNvSpPr txBox="1"/>
          <p:nvPr/>
        </p:nvSpPr>
        <p:spPr>
          <a:xfrm>
            <a:off x="5242249" y="2199421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Limited improvement → escalated to Builder Layer.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7" name="Google Shape;667;p41"/>
          <p:cNvSpPr txBox="1"/>
          <p:nvPr/>
        </p:nvSpPr>
        <p:spPr>
          <a:xfrm>
            <a:off x="5146505" y="2863701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Builder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668" name="Google Shape;668;p41"/>
          <p:cNvSpPr txBox="1"/>
          <p:nvPr/>
        </p:nvSpPr>
        <p:spPr>
          <a:xfrm>
            <a:off x="5218312" y="3318483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Teams inspect RAG pipelines (LangChain, LlamaIndex).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9" name="Google Shape;669;p41"/>
          <p:cNvSpPr txBox="1"/>
          <p:nvPr/>
        </p:nvSpPr>
        <p:spPr>
          <a:xfrm>
            <a:off x="5218312" y="3883401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Retriever works fine; model struggles with multiple contexts.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0" name="Google Shape;670;p41"/>
          <p:cNvSpPr txBox="1"/>
          <p:nvPr/>
        </p:nvSpPr>
        <p:spPr>
          <a:xfrm>
            <a:off x="5218301" y="4440750"/>
            <a:ext cx="39855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Issue: reasoning with external data → logged for Platform Layer.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2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676" name="Google Shape;676;p42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677" name="Google Shape;677;p42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678" name="Google Shape;678;p42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679" name="Google Shape;679;p42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0" name="Google Shape;680;p42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681" name="Google Shape;681;p42"/>
          <p:cNvCxnSpPr>
            <a:endCxn id="680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2" name="Google Shape;682;p42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683" name="Google Shape;683;p42"/>
          <p:cNvCxnSpPr>
            <a:endCxn id="682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4" name="Google Shape;684;p42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Feedback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5" name="Google Shape;685;p42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686" name="Google Shape;686;p42"/>
          <p:cNvCxnSpPr>
            <a:endCxn id="685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7" name="Google Shape;687;p42"/>
          <p:cNvCxnSpPr>
            <a:stCxn id="678" idx="1"/>
            <a:endCxn id="685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8" name="Google Shape;688;p42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689" name="Google Shape;689;p42"/>
          <p:cNvCxnSpPr>
            <a:endCxn id="688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0" name="Google Shape;690;p42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1" name="Google Shape;691;p42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692" name="Google Shape;692;p42"/>
          <p:cNvCxnSpPr>
            <a:endCxn id="691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3" name="Google Shape;693;p42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694" name="Google Shape;694;p42"/>
          <p:cNvCxnSpPr>
            <a:endCxn id="693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5" name="Google Shape;695;p42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696" name="Google Shape;696;p42"/>
          <p:cNvCxnSpPr>
            <a:endCxn id="695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7" name="Google Shape;697;p42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8" name="Google Shape;698;p42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9" name="Google Shape;699;p42"/>
          <p:cNvSpPr txBox="1"/>
          <p:nvPr/>
        </p:nvSpPr>
        <p:spPr>
          <a:xfrm>
            <a:off x="5158474" y="825850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Platform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700" name="Google Shape;700;p42"/>
          <p:cNvSpPr txBox="1"/>
          <p:nvPr/>
        </p:nvSpPr>
        <p:spPr>
          <a:xfrm>
            <a:off x="5242250" y="1268671"/>
            <a:ext cx="383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API-wide issue confirmed across developer ecosystem.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1" name="Google Shape;701;p42"/>
          <p:cNvSpPr txBox="1"/>
          <p:nvPr/>
        </p:nvSpPr>
        <p:spPr>
          <a:xfrm>
            <a:off x="5242249" y="1845549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High hallucination rate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2" name="Google Shape;702;p42"/>
          <p:cNvSpPr txBox="1"/>
          <p:nvPr/>
        </p:nvSpPr>
        <p:spPr>
          <a:xfrm>
            <a:off x="5242250" y="2002623"/>
            <a:ext cx="38301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Engineers request “factual mode” → escalated to Foundation Layer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3" name="Google Shape;703;p42"/>
          <p:cNvSpPr txBox="1"/>
          <p:nvPr/>
        </p:nvSpPr>
        <p:spPr>
          <a:xfrm>
            <a:off x="5146505" y="2863701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Foundation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704" name="Google Shape;704;p42"/>
          <p:cNvSpPr txBox="1"/>
          <p:nvPr/>
        </p:nvSpPr>
        <p:spPr>
          <a:xfrm>
            <a:off x="5218312" y="3318483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Root cause: model training rewarded fluency, not truth.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5" name="Google Shape;705;p42"/>
          <p:cNvSpPr txBox="1"/>
          <p:nvPr/>
        </p:nvSpPr>
        <p:spPr>
          <a:xfrm>
            <a:off x="5218312" y="3883401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Fix: retrain with factual data + truthfulness signals.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6" name="Google Shape;706;p42"/>
          <p:cNvSpPr txBox="1"/>
          <p:nvPr/>
        </p:nvSpPr>
        <p:spPr>
          <a:xfrm>
            <a:off x="5218301" y="4440750"/>
            <a:ext cx="39855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Outcome: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GPT-4-Turbo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— fewer hallucinations.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3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712" name="Google Shape;712;p43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713" name="Google Shape;713;p43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714" name="Google Shape;714;p43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715" name="Google Shape;715;p43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" name="Google Shape;716;p43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717" name="Google Shape;717;p43"/>
          <p:cNvCxnSpPr>
            <a:endCxn id="716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8" name="Google Shape;718;p43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719" name="Google Shape;719;p43"/>
          <p:cNvCxnSpPr>
            <a:endCxn id="718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0" name="Google Shape;720;p43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Feedback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1" name="Google Shape;721;p43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722" name="Google Shape;722;p43"/>
          <p:cNvCxnSpPr>
            <a:endCxn id="721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3" name="Google Shape;723;p43"/>
          <p:cNvCxnSpPr>
            <a:stCxn id="714" idx="1"/>
            <a:endCxn id="721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4" name="Google Shape;724;p43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725" name="Google Shape;725;p43"/>
          <p:cNvCxnSpPr>
            <a:endCxn id="724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6" name="Google Shape;726;p43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7" name="Google Shape;727;p43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728" name="Google Shape;728;p43"/>
          <p:cNvCxnSpPr>
            <a:endCxn id="727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9" name="Google Shape;729;p43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730" name="Google Shape;730;p43"/>
          <p:cNvCxnSpPr>
            <a:endCxn id="729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1" name="Google Shape;731;p43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732" name="Google Shape;732;p43"/>
          <p:cNvCxnSpPr>
            <a:endCxn id="731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3" name="Google Shape;733;p43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4" name="Google Shape;734;p43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5" name="Google Shape;735;p43"/>
          <p:cNvSpPr txBox="1"/>
          <p:nvPr/>
        </p:nvSpPr>
        <p:spPr>
          <a:xfrm>
            <a:off x="5158474" y="825850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Research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736" name="Google Shape;736;p43"/>
          <p:cNvSpPr txBox="1"/>
          <p:nvPr/>
        </p:nvSpPr>
        <p:spPr>
          <a:xfrm>
            <a:off x="5242250" y="1268671"/>
            <a:ext cx="383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Discovery: models predict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fluency, not truth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7" name="Google Shape;737;p43"/>
          <p:cNvSpPr txBox="1"/>
          <p:nvPr/>
        </p:nvSpPr>
        <p:spPr>
          <a:xfrm>
            <a:off x="5242249" y="1893424"/>
            <a:ext cx="3830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New research directions: DPO, Retrieval grounded architecture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8" name="Google Shape;738;p43"/>
          <p:cNvSpPr txBox="1"/>
          <p:nvPr/>
        </p:nvSpPr>
        <p:spPr>
          <a:xfrm>
            <a:off x="5242250" y="2517272"/>
            <a:ext cx="38301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Insights flow into GPT-5, Claude 3 Opus, Gemini 1.5 Pro.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44" name="Google Shape;744;p44" title="Screenshot 2025-10-30 at 6.10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-410448"/>
            <a:ext cx="5935875" cy="560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5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750" name="Google Shape;750;p45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751" name="Google Shape;751;p45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752" name="Google Shape;752;p45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753" name="Google Shape;753;p45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4" name="Google Shape;754;p45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755" name="Google Shape;755;p45"/>
          <p:cNvCxnSpPr>
            <a:endCxn id="754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6" name="Google Shape;756;p45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757" name="Google Shape;757;p45"/>
          <p:cNvCxnSpPr>
            <a:endCxn id="756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8" name="Google Shape;758;p45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Infrastructure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9" name="Google Shape;759;p45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760" name="Google Shape;760;p45"/>
          <p:cNvCxnSpPr>
            <a:endCxn id="759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1" name="Google Shape;761;p45"/>
          <p:cNvCxnSpPr>
            <a:stCxn id="752" idx="1"/>
            <a:endCxn id="759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2" name="Google Shape;762;p45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763" name="Google Shape;763;p45"/>
          <p:cNvCxnSpPr>
            <a:endCxn id="762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4" name="Google Shape;764;p45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5" name="Google Shape;765;p45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766" name="Google Shape;766;p45"/>
          <p:cNvCxnSpPr>
            <a:endCxn id="765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7" name="Google Shape;767;p45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768" name="Google Shape;768;p45"/>
          <p:cNvCxnSpPr>
            <a:endCxn id="767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9" name="Google Shape;769;p45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770" name="Google Shape;770;p45"/>
          <p:cNvCxnSpPr>
            <a:endCxn id="769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1" name="Google Shape;771;p45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2" name="Google Shape;772;p45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3" name="Google Shape;773;p45"/>
          <p:cNvSpPr txBox="1"/>
          <p:nvPr/>
        </p:nvSpPr>
        <p:spPr>
          <a:xfrm>
            <a:off x="5158474" y="825850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Research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774" name="Google Shape;774;p45"/>
          <p:cNvSpPr txBox="1"/>
          <p:nvPr/>
        </p:nvSpPr>
        <p:spPr>
          <a:xfrm>
            <a:off x="5038775" y="1268675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Local GPU/TPU Servers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small scale compute for prototyping.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5" name="Google Shape;775;p45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776" name="Google Shape;776;p45"/>
          <p:cNvSpPr txBox="1"/>
          <p:nvPr/>
        </p:nvSpPr>
        <p:spPr>
          <a:xfrm>
            <a:off x="5038775" y="1954475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Cloud Compute Platforms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Resources from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AWS EC2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Azure ML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7" name="Google Shape;777;p45"/>
          <p:cNvSpPr txBox="1"/>
          <p:nvPr/>
        </p:nvSpPr>
        <p:spPr>
          <a:xfrm>
            <a:off x="5038775" y="2683761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Storage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Google Cloud Storage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S3 buckets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data,  model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8" name="Google Shape;778;p45"/>
          <p:cNvSpPr txBox="1"/>
          <p:nvPr/>
        </p:nvSpPr>
        <p:spPr>
          <a:xfrm>
            <a:off x="5038775" y="3445761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Version-Controlled Storage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GitHub, GitLab for code repos.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6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784" name="Google Shape;784;p46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785" name="Google Shape;785;p46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786" name="Google Shape;786;p46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787" name="Google Shape;787;p46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8" name="Google Shape;788;p46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789" name="Google Shape;789;p46"/>
          <p:cNvCxnSpPr>
            <a:endCxn id="788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0" name="Google Shape;790;p46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791" name="Google Shape;791;p46"/>
          <p:cNvCxnSpPr>
            <a:endCxn id="790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2" name="Google Shape;792;p46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Infrastructure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3" name="Google Shape;793;p46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794" name="Google Shape;794;p46"/>
          <p:cNvCxnSpPr>
            <a:endCxn id="793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5" name="Google Shape;795;p46"/>
          <p:cNvCxnSpPr>
            <a:stCxn id="786" idx="1"/>
            <a:endCxn id="793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6" name="Google Shape;796;p46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797" name="Google Shape;797;p46"/>
          <p:cNvCxnSpPr>
            <a:endCxn id="796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8" name="Google Shape;798;p46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9" name="Google Shape;799;p46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800" name="Google Shape;800;p46"/>
          <p:cNvCxnSpPr>
            <a:endCxn id="799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1" name="Google Shape;801;p46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802" name="Google Shape;802;p46"/>
          <p:cNvCxnSpPr>
            <a:endCxn id="801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3" name="Google Shape;803;p46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804" name="Google Shape;804;p46"/>
          <p:cNvCxnSpPr>
            <a:endCxn id="803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5" name="Google Shape;805;p46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6" name="Google Shape;806;p46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46"/>
          <p:cNvSpPr txBox="1"/>
          <p:nvPr/>
        </p:nvSpPr>
        <p:spPr>
          <a:xfrm>
            <a:off x="5158474" y="78994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Foundation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808" name="Google Shape;808;p46"/>
          <p:cNvSpPr txBox="1"/>
          <p:nvPr/>
        </p:nvSpPr>
        <p:spPr>
          <a:xfrm>
            <a:off x="5038775" y="1232769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GPU/TPU Superclusters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specialized training pods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46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810" name="Google Shape;810;p46"/>
          <p:cNvSpPr txBox="1"/>
          <p:nvPr/>
        </p:nvSpPr>
        <p:spPr>
          <a:xfrm>
            <a:off x="5038775" y="1918569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High-Speed Interconnects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InfiniBand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NVLink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parallel data throughput.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46"/>
          <p:cNvSpPr txBox="1"/>
          <p:nvPr/>
        </p:nvSpPr>
        <p:spPr>
          <a:xfrm>
            <a:off x="5038775" y="2839353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Distributed File Systems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Ceph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BeeGFS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high-volume model training data.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46"/>
          <p:cNvSpPr txBox="1"/>
          <p:nvPr/>
        </p:nvSpPr>
        <p:spPr>
          <a:xfrm>
            <a:off x="5038775" y="3780881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Orchestration Systems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Kubernetes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Ray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scheduling massive training jobs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47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818" name="Google Shape;818;p47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819" name="Google Shape;819;p47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820" name="Google Shape;820;p47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821" name="Google Shape;821;p47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2" name="Google Shape;822;p47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823" name="Google Shape;823;p47"/>
          <p:cNvCxnSpPr>
            <a:endCxn id="822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4" name="Google Shape;824;p47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825" name="Google Shape;825;p47"/>
          <p:cNvCxnSpPr>
            <a:endCxn id="824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6" name="Google Shape;826;p47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Infrastructure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47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828" name="Google Shape;828;p47"/>
          <p:cNvCxnSpPr>
            <a:endCxn id="827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9" name="Google Shape;829;p47"/>
          <p:cNvCxnSpPr>
            <a:stCxn id="820" idx="1"/>
            <a:endCxn id="827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0" name="Google Shape;830;p47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831" name="Google Shape;831;p47"/>
          <p:cNvCxnSpPr>
            <a:endCxn id="830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2" name="Google Shape;832;p47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3" name="Google Shape;833;p47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834" name="Google Shape;834;p47"/>
          <p:cNvCxnSpPr>
            <a:endCxn id="833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5" name="Google Shape;835;p47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836" name="Google Shape;836;p47"/>
          <p:cNvCxnSpPr>
            <a:endCxn id="835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7" name="Google Shape;837;p47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838" name="Google Shape;838;p47"/>
          <p:cNvCxnSpPr>
            <a:endCxn id="837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9" name="Google Shape;839;p47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0" name="Google Shape;840;p47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1" name="Google Shape;841;p47"/>
          <p:cNvSpPr txBox="1"/>
          <p:nvPr/>
        </p:nvSpPr>
        <p:spPr>
          <a:xfrm>
            <a:off x="5158474" y="78994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Platform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842" name="Google Shape;842;p47"/>
          <p:cNvSpPr txBox="1"/>
          <p:nvPr/>
        </p:nvSpPr>
        <p:spPr>
          <a:xfrm>
            <a:off x="5038775" y="1232769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Inference Clusters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GPU/CPU nodes for low-latency serving (e.g.,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vLLM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TensorRT-LLM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3" name="Google Shape;843;p47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844" name="Google Shape;844;p47"/>
          <p:cNvSpPr txBox="1"/>
          <p:nvPr/>
        </p:nvSpPr>
        <p:spPr>
          <a:xfrm>
            <a:off x="5038775" y="2229753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 Hosting Infrastructure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HF Hub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Ollama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or in-house registries for model artifacts.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5" name="Google Shape;845;p47"/>
          <p:cNvSpPr txBox="1"/>
          <p:nvPr/>
        </p:nvSpPr>
        <p:spPr>
          <a:xfrm>
            <a:off x="5038775" y="3150536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Load Balancers &amp; CDNs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Cloudflare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AWS CloudFront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handle global traffic.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6" name="Google Shape;846;p47"/>
          <p:cNvSpPr txBox="1"/>
          <p:nvPr/>
        </p:nvSpPr>
        <p:spPr>
          <a:xfrm>
            <a:off x="5038775" y="4092065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Secure Networking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VPCs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firewalls, and VPNs for secure API communication.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48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852" name="Google Shape;852;p48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853" name="Google Shape;853;p48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854" name="Google Shape;854;p48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855" name="Google Shape;855;p48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6" name="Google Shape;856;p48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857" name="Google Shape;857;p48"/>
          <p:cNvCxnSpPr>
            <a:endCxn id="856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8" name="Google Shape;858;p48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859" name="Google Shape;859;p48"/>
          <p:cNvCxnSpPr>
            <a:endCxn id="858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0" name="Google Shape;860;p48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Infrastructure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1" name="Google Shape;861;p48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862" name="Google Shape;862;p48"/>
          <p:cNvCxnSpPr>
            <a:endCxn id="861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3" name="Google Shape;863;p48"/>
          <p:cNvCxnSpPr>
            <a:stCxn id="854" idx="1"/>
            <a:endCxn id="861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4" name="Google Shape;864;p48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865" name="Google Shape;865;p48"/>
          <p:cNvCxnSpPr>
            <a:endCxn id="864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6" name="Google Shape;866;p48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7" name="Google Shape;867;p48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868" name="Google Shape;868;p48"/>
          <p:cNvCxnSpPr>
            <a:endCxn id="867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9" name="Google Shape;869;p48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870" name="Google Shape;870;p48"/>
          <p:cNvCxnSpPr>
            <a:endCxn id="869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1" name="Google Shape;871;p48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872" name="Google Shape;872;p48"/>
          <p:cNvCxnSpPr>
            <a:endCxn id="871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3" name="Google Shape;873;p48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4" name="Google Shape;874;p48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5" name="Google Shape;875;p48"/>
          <p:cNvSpPr txBox="1"/>
          <p:nvPr/>
        </p:nvSpPr>
        <p:spPr>
          <a:xfrm>
            <a:off x="5158474" y="78994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Builder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876" name="Google Shape;876;p48"/>
          <p:cNvSpPr txBox="1"/>
          <p:nvPr/>
        </p:nvSpPr>
        <p:spPr>
          <a:xfrm>
            <a:off x="5038775" y="1232769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Application Servers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lightweight hosting on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FastAPI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Flask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or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Node.js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orchestration services.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7" name="Google Shape;877;p48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878" name="Google Shape;878;p48"/>
          <p:cNvSpPr txBox="1"/>
          <p:nvPr/>
        </p:nvSpPr>
        <p:spPr>
          <a:xfrm>
            <a:off x="5038775" y="2229753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Vector Databases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Pinecone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Weaviate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Chroma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FAISS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RAG.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9" name="Google Shape;879;p48"/>
          <p:cNvSpPr txBox="1"/>
          <p:nvPr/>
        </p:nvSpPr>
        <p:spPr>
          <a:xfrm>
            <a:off x="5038775" y="3019324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Containerized Builders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Docker Compose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Kubernetes Pods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or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Render/Vercel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instances for workflow hosting.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49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885" name="Google Shape;885;p49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886" name="Google Shape;886;p49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887" name="Google Shape;887;p49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888" name="Google Shape;888;p49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9" name="Google Shape;889;p49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890" name="Google Shape;890;p49"/>
          <p:cNvCxnSpPr>
            <a:endCxn id="889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1" name="Google Shape;891;p49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892" name="Google Shape;892;p49"/>
          <p:cNvCxnSpPr>
            <a:endCxn id="891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3" name="Google Shape;893;p49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Infrastructure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4" name="Google Shape;894;p49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895" name="Google Shape;895;p49"/>
          <p:cNvCxnSpPr>
            <a:endCxn id="894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6" name="Google Shape;896;p49"/>
          <p:cNvCxnSpPr>
            <a:stCxn id="887" idx="1"/>
            <a:endCxn id="894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7" name="Google Shape;897;p49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898" name="Google Shape;898;p49"/>
          <p:cNvCxnSpPr>
            <a:endCxn id="897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9" name="Google Shape;899;p49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0" name="Google Shape;900;p49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901" name="Google Shape;901;p49"/>
          <p:cNvCxnSpPr>
            <a:endCxn id="900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2" name="Google Shape;902;p49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903" name="Google Shape;903;p49"/>
          <p:cNvCxnSpPr>
            <a:endCxn id="902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4" name="Google Shape;904;p49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905" name="Google Shape;905;p49"/>
          <p:cNvCxnSpPr>
            <a:endCxn id="904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6" name="Google Shape;906;p49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7" name="Google Shape;907;p49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8" name="Google Shape;908;p49"/>
          <p:cNvSpPr txBox="1"/>
          <p:nvPr/>
        </p:nvSpPr>
        <p:spPr>
          <a:xfrm>
            <a:off x="5158474" y="78994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Application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909" name="Google Shape;909;p49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910" name="Google Shape;910;p49"/>
          <p:cNvSpPr txBox="1"/>
          <p:nvPr/>
        </p:nvSpPr>
        <p:spPr>
          <a:xfrm>
            <a:off x="5038775" y="1383971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Database &amp; Cache Infras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–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Firebase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Redis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PostgreSQL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app state management.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1" name="Google Shape;911;p49"/>
          <p:cNvSpPr txBox="1"/>
          <p:nvPr/>
        </p:nvSpPr>
        <p:spPr>
          <a:xfrm>
            <a:off x="5038775" y="2400977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CI/CD Pipelines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Actions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for automated testing and deploy.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2" name="Google Shape;912;p49"/>
          <p:cNvSpPr txBox="1"/>
          <p:nvPr/>
        </p:nvSpPr>
        <p:spPr>
          <a:xfrm>
            <a:off x="5038775" y="3203020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User Authentication Infrastructure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OAuth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Firebase Auth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Okta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secure access control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3" name="Google Shape;913;p49"/>
          <p:cNvSpPr txBox="1"/>
          <p:nvPr/>
        </p:nvSpPr>
        <p:spPr>
          <a:xfrm>
            <a:off x="5038775" y="4207761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Version-Controlled Storage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GitHub, GitLab for code repos.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50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919" name="Google Shape;919;p50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920" name="Google Shape;920;p50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921" name="Google Shape;921;p50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922" name="Google Shape;922;p50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3" name="Google Shape;923;p50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924" name="Google Shape;924;p50"/>
          <p:cNvCxnSpPr>
            <a:endCxn id="923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5" name="Google Shape;925;p50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926" name="Google Shape;926;p50"/>
          <p:cNvCxnSpPr>
            <a:endCxn id="925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7" name="Google Shape;927;p50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Infrastructure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8" name="Google Shape;928;p50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929" name="Google Shape;929;p50"/>
          <p:cNvCxnSpPr>
            <a:endCxn id="928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0" name="Google Shape;930;p50"/>
          <p:cNvCxnSpPr>
            <a:stCxn id="921" idx="1"/>
            <a:endCxn id="928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1" name="Google Shape;931;p50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932" name="Google Shape;932;p50"/>
          <p:cNvCxnSpPr>
            <a:endCxn id="931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3" name="Google Shape;933;p50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4" name="Google Shape;934;p50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935" name="Google Shape;935;p50"/>
          <p:cNvCxnSpPr>
            <a:endCxn id="934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6" name="Google Shape;936;p50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937" name="Google Shape;937;p50"/>
          <p:cNvCxnSpPr>
            <a:endCxn id="936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8" name="Google Shape;938;p50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939" name="Google Shape;939;p50"/>
          <p:cNvCxnSpPr>
            <a:endCxn id="938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0" name="Google Shape;940;p50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1" name="Google Shape;941;p50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2" name="Google Shape;942;p50"/>
          <p:cNvSpPr txBox="1"/>
          <p:nvPr/>
        </p:nvSpPr>
        <p:spPr>
          <a:xfrm>
            <a:off x="5158474" y="78994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Operation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943" name="Google Shape;943;p50"/>
          <p:cNvSpPr txBox="1"/>
          <p:nvPr/>
        </p:nvSpPr>
        <p:spPr>
          <a:xfrm>
            <a:off x="5038775" y="1232769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Compute: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auto scaling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GPU/CPU nodes (containers/K8s).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4" name="Google Shape;944;p50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945" name="Google Shape;945;p50"/>
          <p:cNvSpPr txBox="1"/>
          <p:nvPr/>
        </p:nvSpPr>
        <p:spPr>
          <a:xfrm>
            <a:off x="5038775" y="1923592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Storage: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object store (artifacts, prompts, logs)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6" name="Google Shape;946;p50"/>
          <p:cNvSpPr txBox="1"/>
          <p:nvPr/>
        </p:nvSpPr>
        <p:spPr>
          <a:xfrm>
            <a:off x="5038775" y="2634436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Networking: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API gateways, load balancers, private networking/VPC.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51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952" name="Google Shape;952;p51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953" name="Google Shape;953;p51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954" name="Google Shape;954;p51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955" name="Google Shape;955;p51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6" name="Google Shape;956;p51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957" name="Google Shape;957;p51"/>
          <p:cNvCxnSpPr>
            <a:endCxn id="956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8" name="Google Shape;958;p51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959" name="Google Shape;959;p51"/>
          <p:cNvCxnSpPr>
            <a:endCxn id="958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0" name="Google Shape;960;p51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Infrastructure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1" name="Google Shape;961;p51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962" name="Google Shape;962;p51"/>
          <p:cNvCxnSpPr>
            <a:endCxn id="961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3" name="Google Shape;963;p51"/>
          <p:cNvCxnSpPr>
            <a:stCxn id="954" idx="1"/>
            <a:endCxn id="961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4" name="Google Shape;964;p51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965" name="Google Shape;965;p51"/>
          <p:cNvCxnSpPr>
            <a:endCxn id="964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6" name="Google Shape;966;p51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7" name="Google Shape;967;p51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968" name="Google Shape;968;p51"/>
          <p:cNvCxnSpPr>
            <a:endCxn id="967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9" name="Google Shape;969;p51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970" name="Google Shape;970;p51"/>
          <p:cNvCxnSpPr>
            <a:endCxn id="969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1" name="Google Shape;971;p51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972" name="Google Shape;972;p51"/>
          <p:cNvCxnSpPr>
            <a:endCxn id="971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3" name="Google Shape;973;p51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4" name="Google Shape;974;p51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5" name="Google Shape;975;p51"/>
          <p:cNvSpPr txBox="1"/>
          <p:nvPr/>
        </p:nvSpPr>
        <p:spPr>
          <a:xfrm>
            <a:off x="5158474" y="78994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Distribution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976" name="Google Shape;976;p51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977" name="Google Shape;977;p51"/>
          <p:cNvSpPr txBox="1"/>
          <p:nvPr/>
        </p:nvSpPr>
        <p:spPr>
          <a:xfrm>
            <a:off x="5038775" y="1492634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App Store Infrastructure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Apple App Store, Google Play, Slack Marketplace, etc.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8" name="Google Shape;978;p51"/>
          <p:cNvSpPr txBox="1"/>
          <p:nvPr/>
        </p:nvSpPr>
        <p:spPr>
          <a:xfrm>
            <a:off x="5038775" y="2422165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Billing &amp; Subscription Systems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Stripe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API monetization.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9" name="Google Shape;979;p51"/>
          <p:cNvSpPr txBox="1"/>
          <p:nvPr/>
        </p:nvSpPr>
        <p:spPr>
          <a:xfrm>
            <a:off x="5038775" y="3197966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Analytics Infrastructure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Mixpanel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Amplitude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Segment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usage tracking.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52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985" name="Google Shape;985;p52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986" name="Google Shape;986;p52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987" name="Google Shape;987;p52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988" name="Google Shape;988;p52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9" name="Google Shape;989;p52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990" name="Google Shape;990;p52"/>
          <p:cNvCxnSpPr>
            <a:endCxn id="989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1" name="Google Shape;991;p52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992" name="Google Shape;992;p52"/>
          <p:cNvCxnSpPr>
            <a:endCxn id="991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3" name="Google Shape;993;p52"/>
          <p:cNvSpPr txBox="1"/>
          <p:nvPr/>
        </p:nvSpPr>
        <p:spPr>
          <a:xfrm>
            <a:off x="6020212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Infrastructure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4" name="Google Shape;994;p52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995" name="Google Shape;995;p52"/>
          <p:cNvCxnSpPr>
            <a:endCxn id="994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6" name="Google Shape;996;p52"/>
          <p:cNvCxnSpPr>
            <a:stCxn id="987" idx="1"/>
            <a:endCxn id="994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7" name="Google Shape;997;p52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998" name="Google Shape;998;p52"/>
          <p:cNvCxnSpPr>
            <a:endCxn id="997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9" name="Google Shape;999;p52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0" name="Google Shape;1000;p52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001" name="Google Shape;1001;p52"/>
          <p:cNvCxnSpPr>
            <a:endCxn id="1000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2" name="Google Shape;1002;p52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003" name="Google Shape;1003;p52"/>
          <p:cNvCxnSpPr>
            <a:endCxn id="1002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4" name="Google Shape;1004;p52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005" name="Google Shape;1005;p52"/>
          <p:cNvCxnSpPr>
            <a:endCxn id="1004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6" name="Google Shape;1006;p52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7" name="Google Shape;1007;p52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8" name="Google Shape;1008;p52"/>
          <p:cNvSpPr txBox="1"/>
          <p:nvPr/>
        </p:nvSpPr>
        <p:spPr>
          <a:xfrm>
            <a:off x="5158474" y="78994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User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009" name="Google Shape;1009;p52"/>
          <p:cNvSpPr txBox="1"/>
          <p:nvPr/>
        </p:nvSpPr>
        <p:spPr>
          <a:xfrm>
            <a:off x="5038775" y="1232769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End-User Devices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desktops, smartphones, and edge devices.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0" name="Google Shape;1010;p52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011" name="Google Shape;1011;p52"/>
          <p:cNvSpPr txBox="1"/>
          <p:nvPr/>
        </p:nvSpPr>
        <p:spPr>
          <a:xfrm>
            <a:off x="5038775" y="1949834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Network Access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broadband, 5G, Wi-Fi infrastructure for real-time interaction.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2" name="Google Shape;1012;p52"/>
          <p:cNvSpPr txBox="1"/>
          <p:nvPr/>
        </p:nvSpPr>
        <p:spPr>
          <a:xfrm>
            <a:off x="5038775" y="2914355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Personalization &amp; Storage Infrastructure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local caches, cookies, and encrypted storage for preferences.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53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018" name="Google Shape;1018;p53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019" name="Google Shape;1019;p53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020" name="Google Shape;1020;p53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021" name="Google Shape;1021;p53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2" name="Google Shape;1022;p53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023" name="Google Shape;1023;p53"/>
          <p:cNvCxnSpPr>
            <a:endCxn id="1022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4" name="Google Shape;1024;p53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025" name="Google Shape;1025;p53"/>
          <p:cNvCxnSpPr>
            <a:endCxn id="1024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6" name="Google Shape;1026;p53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7" name="Google Shape;1027;p53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028" name="Google Shape;1028;p53"/>
          <p:cNvCxnSpPr>
            <a:endCxn id="1027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9" name="Google Shape;1029;p53"/>
          <p:cNvCxnSpPr>
            <a:stCxn id="1020" idx="1"/>
            <a:endCxn id="1027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0" name="Google Shape;1030;p53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031" name="Google Shape;1031;p53"/>
          <p:cNvCxnSpPr>
            <a:endCxn id="1030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2" name="Google Shape;1032;p53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3" name="Google Shape;1033;p53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034" name="Google Shape;1034;p53"/>
          <p:cNvCxnSpPr>
            <a:endCxn id="1033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5" name="Google Shape;1035;p53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036" name="Google Shape;1036;p53"/>
          <p:cNvCxnSpPr>
            <a:endCxn id="1035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7" name="Google Shape;1037;p53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038" name="Google Shape;1038;p53"/>
          <p:cNvCxnSpPr>
            <a:endCxn id="1037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9" name="Google Shape;1039;p53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0" name="Google Shape;1040;p53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1" name="Google Shape;1041;p53"/>
          <p:cNvSpPr txBox="1"/>
          <p:nvPr/>
        </p:nvSpPr>
        <p:spPr>
          <a:xfrm>
            <a:off x="5158474" y="825850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Research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042" name="Google Shape;1042;p53"/>
          <p:cNvSpPr txBox="1"/>
          <p:nvPr/>
        </p:nvSpPr>
        <p:spPr>
          <a:xfrm>
            <a:off x="5038775" y="1268675"/>
            <a:ext cx="41652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Benchmark Datasets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standardized datasets for model evaluation (e.g.,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MNIST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CIFAR-10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ImageNet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GLUE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SuperGLUE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3" name="Google Shape;1043;p53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044" name="Google Shape;1044;p53"/>
          <p:cNvSpPr txBox="1"/>
          <p:nvPr/>
        </p:nvSpPr>
        <p:spPr>
          <a:xfrm>
            <a:off x="5038775" y="2516999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Task-specific datasets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-e.g.,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SQuAD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QA,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COCO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image captioning.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5" name="Google Shape;1045;p53"/>
          <p:cNvSpPr txBox="1"/>
          <p:nvPr/>
        </p:nvSpPr>
        <p:spPr>
          <a:xfrm>
            <a:off x="5038775" y="3246284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Synthetic Data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generated data for controlled experimentation and model debugging.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6" name="Google Shape;1046;p53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54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052" name="Google Shape;1052;p54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053" name="Google Shape;1053;p54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054" name="Google Shape;1054;p54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055" name="Google Shape;1055;p54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6" name="Google Shape;1056;p54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057" name="Google Shape;1057;p54"/>
          <p:cNvCxnSpPr>
            <a:endCxn id="1056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8" name="Google Shape;1058;p54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059" name="Google Shape;1059;p54"/>
          <p:cNvCxnSpPr>
            <a:endCxn id="1058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0" name="Google Shape;1060;p54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1" name="Google Shape;1061;p54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062" name="Google Shape;1062;p54"/>
          <p:cNvCxnSpPr>
            <a:endCxn id="1061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3" name="Google Shape;1063;p54"/>
          <p:cNvCxnSpPr>
            <a:stCxn id="1054" idx="1"/>
            <a:endCxn id="1061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4" name="Google Shape;1064;p54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065" name="Google Shape;1065;p54"/>
          <p:cNvCxnSpPr>
            <a:endCxn id="1064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6" name="Google Shape;1066;p54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7" name="Google Shape;1067;p54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068" name="Google Shape;1068;p54"/>
          <p:cNvCxnSpPr>
            <a:endCxn id="1067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9" name="Google Shape;1069;p54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070" name="Google Shape;1070;p54"/>
          <p:cNvCxnSpPr>
            <a:endCxn id="1069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1" name="Google Shape;1071;p54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072" name="Google Shape;1072;p54"/>
          <p:cNvCxnSpPr>
            <a:endCxn id="1071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3" name="Google Shape;1073;p54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4" name="Google Shape;1074;p54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5" name="Google Shape;1075;p54"/>
          <p:cNvSpPr txBox="1"/>
          <p:nvPr/>
        </p:nvSpPr>
        <p:spPr>
          <a:xfrm>
            <a:off x="5158474" y="825850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Foundation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076" name="Google Shape;1076;p54"/>
          <p:cNvSpPr txBox="1"/>
          <p:nvPr/>
        </p:nvSpPr>
        <p:spPr>
          <a:xfrm>
            <a:off x="5038775" y="1268675"/>
            <a:ext cx="4165200" cy="9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Web-Scale Text Corpora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large-scale crawls (e.g.,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Common Crawl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Wikipedia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7" name="Google Shape;1077;p54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078" name="Google Shape;1078;p54"/>
          <p:cNvSpPr txBox="1"/>
          <p:nvPr/>
        </p:nvSpPr>
        <p:spPr>
          <a:xfrm>
            <a:off x="5038775" y="2301564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Multimodal Data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text-image/audio datasets for models like CLIP or Gemini.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9" name="Google Shape;1079;p54"/>
          <p:cNvSpPr txBox="1"/>
          <p:nvPr/>
        </p:nvSpPr>
        <p:spPr>
          <a:xfrm>
            <a:off x="5038775" y="3246284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Alignment Labels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human preference data (for RLHF), toxicity annotations, and content classification.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0" name="Google Shape;1080;p54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55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086" name="Google Shape;1086;p55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087" name="Google Shape;1087;p55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088" name="Google Shape;1088;p55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089" name="Google Shape;1089;p55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0" name="Google Shape;1090;p55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091" name="Google Shape;1091;p55"/>
          <p:cNvCxnSpPr>
            <a:endCxn id="1090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2" name="Google Shape;1092;p55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093" name="Google Shape;1093;p55"/>
          <p:cNvCxnSpPr>
            <a:endCxn id="1092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4" name="Google Shape;1094;p55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5" name="Google Shape;1095;p55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096" name="Google Shape;1096;p55"/>
          <p:cNvCxnSpPr>
            <a:endCxn id="1095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7" name="Google Shape;1097;p55"/>
          <p:cNvCxnSpPr>
            <a:stCxn id="1088" idx="1"/>
            <a:endCxn id="1095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8" name="Google Shape;1098;p55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099" name="Google Shape;1099;p55"/>
          <p:cNvCxnSpPr>
            <a:endCxn id="1098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0" name="Google Shape;1100;p55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1" name="Google Shape;1101;p55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102" name="Google Shape;1102;p55"/>
          <p:cNvCxnSpPr>
            <a:endCxn id="1101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3" name="Google Shape;1103;p55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104" name="Google Shape;1104;p55"/>
          <p:cNvCxnSpPr>
            <a:endCxn id="1103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5" name="Google Shape;1105;p55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106" name="Google Shape;1106;p55"/>
          <p:cNvCxnSpPr>
            <a:endCxn id="1105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7" name="Google Shape;1107;p55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8" name="Google Shape;1108;p55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9" name="Google Shape;1109;p55"/>
          <p:cNvSpPr txBox="1"/>
          <p:nvPr/>
        </p:nvSpPr>
        <p:spPr>
          <a:xfrm>
            <a:off x="5158474" y="825850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Platform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110" name="Google Shape;1110;p55"/>
          <p:cNvSpPr txBox="1"/>
          <p:nvPr/>
        </p:nvSpPr>
        <p:spPr>
          <a:xfrm>
            <a:off x="5038775" y="132851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 Artifacts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serialized model weights, tokenizers, configs.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1" name="Google Shape;1111;p55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112" name="Google Shape;1112;p55"/>
          <p:cNvSpPr txBox="1"/>
          <p:nvPr/>
        </p:nvSpPr>
        <p:spPr>
          <a:xfrm>
            <a:off x="5038775" y="3097591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Inference Metadata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logs of queries, responses, latencies, and system performance.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3" name="Google Shape;1113;p55"/>
          <p:cNvSpPr txBox="1"/>
          <p:nvPr/>
        </p:nvSpPr>
        <p:spPr>
          <a:xfrm>
            <a:off x="5038775" y="2188261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Metrics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benchmark scores, latency profiles, and cost metrics.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4" name="Google Shape;1114;p55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56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120" name="Google Shape;1120;p56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121" name="Google Shape;1121;p56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122" name="Google Shape;1122;p56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123" name="Google Shape;1123;p56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4" name="Google Shape;1124;p56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125" name="Google Shape;1125;p56"/>
          <p:cNvCxnSpPr>
            <a:endCxn id="1124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6" name="Google Shape;1126;p56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127" name="Google Shape;1127;p56"/>
          <p:cNvCxnSpPr>
            <a:endCxn id="1126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8" name="Google Shape;1128;p56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9" name="Google Shape;1129;p56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130" name="Google Shape;1130;p56"/>
          <p:cNvCxnSpPr>
            <a:endCxn id="1129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" name="Google Shape;1131;p56"/>
          <p:cNvCxnSpPr>
            <a:stCxn id="1122" idx="1"/>
            <a:endCxn id="1129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2" name="Google Shape;1132;p56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133" name="Google Shape;1133;p56"/>
          <p:cNvCxnSpPr>
            <a:endCxn id="1132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4" name="Google Shape;1134;p56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5" name="Google Shape;1135;p56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136" name="Google Shape;1136;p56"/>
          <p:cNvCxnSpPr>
            <a:endCxn id="1135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7" name="Google Shape;1137;p56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138" name="Google Shape;1138;p56"/>
          <p:cNvCxnSpPr>
            <a:endCxn id="1137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9" name="Google Shape;1139;p56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140" name="Google Shape;1140;p56"/>
          <p:cNvCxnSpPr>
            <a:endCxn id="1139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1" name="Google Shape;1141;p56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2" name="Google Shape;1142;p56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3" name="Google Shape;1143;p56"/>
          <p:cNvSpPr txBox="1"/>
          <p:nvPr/>
        </p:nvSpPr>
        <p:spPr>
          <a:xfrm>
            <a:off x="5158474" y="825850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Builder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144" name="Google Shape;1144;p56"/>
          <p:cNvSpPr txBox="1"/>
          <p:nvPr/>
        </p:nvSpPr>
        <p:spPr>
          <a:xfrm>
            <a:off x="5038775" y="132851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Enterprise Knowledge Bases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wikis, Confluence pages, Notion docs, Slack threads.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5" name="Google Shape;1145;p56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146" name="Google Shape;1146;p56"/>
          <p:cNvSpPr txBox="1"/>
          <p:nvPr/>
        </p:nvSpPr>
        <p:spPr>
          <a:xfrm>
            <a:off x="5038775" y="2277624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Vector Databases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– semantic indexes built from enterprise or domain documents (e.g.,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Pinecone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7" name="Google Shape;1147;p56"/>
          <p:cNvSpPr txBox="1"/>
          <p:nvPr/>
        </p:nvSpPr>
        <p:spPr>
          <a:xfrm>
            <a:off x="5038775" y="3279965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 Context Data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results returned by API calls or function executions.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8" name="Google Shape;1148;p56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149" name="Google Shape;1149;p56"/>
          <p:cNvSpPr txBox="1"/>
          <p:nvPr/>
        </p:nvSpPr>
        <p:spPr>
          <a:xfrm>
            <a:off x="5038775" y="4041965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Long-Term Memory Stores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previous interactions and agent state histories.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57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155" name="Google Shape;1155;p57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156" name="Google Shape;1156;p57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157" name="Google Shape;1157;p57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158" name="Google Shape;1158;p57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9" name="Google Shape;1159;p57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160" name="Google Shape;1160;p57"/>
          <p:cNvCxnSpPr>
            <a:endCxn id="1159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1" name="Google Shape;1161;p57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162" name="Google Shape;1162;p57"/>
          <p:cNvCxnSpPr>
            <a:endCxn id="1161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3" name="Google Shape;1163;p57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4" name="Google Shape;1164;p57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165" name="Google Shape;1165;p57"/>
          <p:cNvCxnSpPr>
            <a:endCxn id="1164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6" name="Google Shape;1166;p57"/>
          <p:cNvCxnSpPr>
            <a:stCxn id="1157" idx="1"/>
            <a:endCxn id="1164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7" name="Google Shape;1167;p57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168" name="Google Shape;1168;p57"/>
          <p:cNvCxnSpPr>
            <a:endCxn id="1167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9" name="Google Shape;1169;p57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0" name="Google Shape;1170;p57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171" name="Google Shape;1171;p57"/>
          <p:cNvCxnSpPr>
            <a:endCxn id="1170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2" name="Google Shape;1172;p57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173" name="Google Shape;1173;p57"/>
          <p:cNvCxnSpPr>
            <a:endCxn id="1172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4" name="Google Shape;1174;p57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175" name="Google Shape;1175;p57"/>
          <p:cNvCxnSpPr>
            <a:endCxn id="1174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6" name="Google Shape;1176;p57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7" name="Google Shape;1177;p57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8" name="Google Shape;1178;p57"/>
          <p:cNvSpPr txBox="1"/>
          <p:nvPr/>
        </p:nvSpPr>
        <p:spPr>
          <a:xfrm>
            <a:off x="5158474" y="825850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Application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179" name="Google Shape;1179;p57"/>
          <p:cNvSpPr txBox="1"/>
          <p:nvPr/>
        </p:nvSpPr>
        <p:spPr>
          <a:xfrm>
            <a:off x="5038775" y="132851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User Data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text prompts, uploaded files, interaction logs.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0" name="Google Shape;1180;p57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181" name="Google Shape;1181;p57"/>
          <p:cNvSpPr txBox="1"/>
          <p:nvPr/>
        </p:nvSpPr>
        <p:spPr>
          <a:xfrm>
            <a:off x="5038775" y="2098096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Domain Data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internal business documents, customer support transcripts, CRM records.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2" name="Google Shape;1182;p57"/>
          <p:cNvSpPr txBox="1"/>
          <p:nvPr/>
        </p:nvSpPr>
        <p:spPr>
          <a:xfrm>
            <a:off x="5038775" y="3112405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Contextual Data Bindings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organization-specific knowledge linked into app logic.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3" name="Google Shape;1183;p57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184" name="Google Shape;1184;p57"/>
          <p:cNvSpPr txBox="1"/>
          <p:nvPr/>
        </p:nvSpPr>
        <p:spPr>
          <a:xfrm>
            <a:off x="5038775" y="4125745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Feedback Data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user corrections, ratings, and fine-tuning feedback.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58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190" name="Google Shape;1190;p58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191" name="Google Shape;1191;p58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192" name="Google Shape;1192;p58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193" name="Google Shape;1193;p58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4" name="Google Shape;1194;p58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195" name="Google Shape;1195;p58"/>
          <p:cNvCxnSpPr>
            <a:endCxn id="1194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6" name="Google Shape;1196;p58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197" name="Google Shape;1197;p58"/>
          <p:cNvCxnSpPr>
            <a:endCxn id="1196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8" name="Google Shape;1198;p58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9" name="Google Shape;1199;p58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200" name="Google Shape;1200;p58"/>
          <p:cNvCxnSpPr>
            <a:endCxn id="1199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1" name="Google Shape;1201;p58"/>
          <p:cNvCxnSpPr>
            <a:stCxn id="1192" idx="1"/>
            <a:endCxn id="1199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2" name="Google Shape;1202;p58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203" name="Google Shape;1203;p58"/>
          <p:cNvCxnSpPr>
            <a:endCxn id="1202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4" name="Google Shape;1204;p58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5" name="Google Shape;1205;p58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206" name="Google Shape;1206;p58"/>
          <p:cNvCxnSpPr>
            <a:endCxn id="1205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7" name="Google Shape;1207;p58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208" name="Google Shape;1208;p58"/>
          <p:cNvCxnSpPr>
            <a:endCxn id="1207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9" name="Google Shape;1209;p58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210" name="Google Shape;1210;p58"/>
          <p:cNvCxnSpPr>
            <a:endCxn id="1209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1" name="Google Shape;1211;p58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2" name="Google Shape;1212;p58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3" name="Google Shape;1213;p58"/>
          <p:cNvSpPr txBox="1"/>
          <p:nvPr/>
        </p:nvSpPr>
        <p:spPr>
          <a:xfrm>
            <a:off x="5158474" y="825850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Operation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214" name="Google Shape;1214;p58"/>
          <p:cNvSpPr txBox="1"/>
          <p:nvPr/>
        </p:nvSpPr>
        <p:spPr>
          <a:xfrm>
            <a:off x="5038775" y="132851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Telemetry Streams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logs from model inference, latency, and resource usage.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5" name="Google Shape;1215;p58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216" name="Google Shape;1216;p58"/>
          <p:cNvSpPr txBox="1"/>
          <p:nvPr/>
        </p:nvSpPr>
        <p:spPr>
          <a:xfrm>
            <a:off x="5038775" y="2277624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User Feedback Data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thumbs-up/down, corrections, and explicit error reports.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7" name="Google Shape;1217;p58"/>
          <p:cNvSpPr txBox="1"/>
          <p:nvPr/>
        </p:nvSpPr>
        <p:spPr>
          <a:xfrm>
            <a:off x="5038775" y="3291934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Evaluation Data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curated test sets and golden labels for regression testing.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8" name="Google Shape;1218;p58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59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224" name="Google Shape;1224;p59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225" name="Google Shape;1225;p59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226" name="Google Shape;1226;p59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227" name="Google Shape;1227;p59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8" name="Google Shape;1228;p59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229" name="Google Shape;1229;p59"/>
          <p:cNvCxnSpPr>
            <a:endCxn id="1228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0" name="Google Shape;1230;p59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231" name="Google Shape;1231;p59"/>
          <p:cNvCxnSpPr>
            <a:endCxn id="1230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2" name="Google Shape;1232;p59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3" name="Google Shape;1233;p59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234" name="Google Shape;1234;p59"/>
          <p:cNvCxnSpPr>
            <a:endCxn id="1233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5" name="Google Shape;1235;p59"/>
          <p:cNvCxnSpPr>
            <a:stCxn id="1226" idx="1"/>
            <a:endCxn id="1233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6" name="Google Shape;1236;p59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237" name="Google Shape;1237;p59"/>
          <p:cNvCxnSpPr>
            <a:endCxn id="1236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8" name="Google Shape;1238;p59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9" name="Google Shape;1239;p59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240" name="Google Shape;1240;p59"/>
          <p:cNvCxnSpPr>
            <a:endCxn id="1239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1" name="Google Shape;1241;p59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242" name="Google Shape;1242;p59"/>
          <p:cNvCxnSpPr>
            <a:endCxn id="1241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3" name="Google Shape;1243;p59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244" name="Google Shape;1244;p59"/>
          <p:cNvCxnSpPr>
            <a:endCxn id="1243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5" name="Google Shape;1245;p59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6" name="Google Shape;1246;p59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7" name="Google Shape;1247;p59"/>
          <p:cNvSpPr txBox="1"/>
          <p:nvPr/>
        </p:nvSpPr>
        <p:spPr>
          <a:xfrm>
            <a:off x="5158474" y="825850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Distribution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248" name="Google Shape;1248;p59"/>
          <p:cNvSpPr txBox="1"/>
          <p:nvPr/>
        </p:nvSpPr>
        <p:spPr>
          <a:xfrm>
            <a:off x="5038775" y="132851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User Growth Metrics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adoption rates, active users, retention curves.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9" name="Google Shape;1249;p59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250" name="Google Shape;1250;p59"/>
          <p:cNvSpPr txBox="1"/>
          <p:nvPr/>
        </p:nvSpPr>
        <p:spPr>
          <a:xfrm>
            <a:off x="5038775" y="2086127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Channel Analytics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app store impressions, API call volume, campaign performance.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1" name="Google Shape;1251;p59"/>
          <p:cNvSpPr txBox="1"/>
          <p:nvPr/>
        </p:nvSpPr>
        <p:spPr>
          <a:xfrm>
            <a:off x="5038775" y="3100436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Revenue Data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subscription and API billing metrics.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2" name="Google Shape;1252;p59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253" name="Google Shape;1253;p59"/>
          <p:cNvSpPr txBox="1"/>
          <p:nvPr/>
        </p:nvSpPr>
        <p:spPr>
          <a:xfrm>
            <a:off x="5038775" y="3870017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A/B Testing Results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behavioral data comparing different rollout strategies.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60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259" name="Google Shape;1259;p60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260" name="Google Shape;1260;p60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261" name="Google Shape;1261;p60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262" name="Google Shape;1262;p60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3" name="Google Shape;1263;p60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264" name="Google Shape;1264;p60"/>
          <p:cNvCxnSpPr>
            <a:endCxn id="1263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5" name="Google Shape;1265;p60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266" name="Google Shape;1266;p60"/>
          <p:cNvCxnSpPr>
            <a:endCxn id="1265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7" name="Google Shape;1267;p60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8" name="Google Shape;1268;p60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269" name="Google Shape;1269;p60"/>
          <p:cNvCxnSpPr>
            <a:endCxn id="1268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0" name="Google Shape;1270;p60"/>
          <p:cNvCxnSpPr>
            <a:stCxn id="1261" idx="1"/>
            <a:endCxn id="1268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1" name="Google Shape;1271;p60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272" name="Google Shape;1272;p60"/>
          <p:cNvCxnSpPr>
            <a:endCxn id="1271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3" name="Google Shape;1273;p60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4" name="Google Shape;1274;p60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275" name="Google Shape;1275;p60"/>
          <p:cNvCxnSpPr>
            <a:endCxn id="1274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6" name="Google Shape;1276;p60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277" name="Google Shape;1277;p60"/>
          <p:cNvCxnSpPr>
            <a:endCxn id="1276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8" name="Google Shape;1278;p60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279" name="Google Shape;1279;p60"/>
          <p:cNvCxnSpPr>
            <a:endCxn id="1278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0" name="Google Shape;1280;p60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1" name="Google Shape;1281;p60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2" name="Google Shape;1282;p60"/>
          <p:cNvSpPr txBox="1"/>
          <p:nvPr/>
        </p:nvSpPr>
        <p:spPr>
          <a:xfrm>
            <a:off x="5158474" y="825850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User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283" name="Google Shape;1283;p60"/>
          <p:cNvSpPr txBox="1"/>
          <p:nvPr/>
        </p:nvSpPr>
        <p:spPr>
          <a:xfrm>
            <a:off x="5038775" y="132851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User Preferences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saved configs, domains, or instructions.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4" name="Google Shape;1284;p60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285" name="Google Shape;1285;p60"/>
          <p:cNvSpPr txBox="1"/>
          <p:nvPr/>
        </p:nvSpPr>
        <p:spPr>
          <a:xfrm>
            <a:off x="5038775" y="2086127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Behavioral Analytics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usage frequency, engagement metrics, and satisfaction signals.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6" name="Google Shape;1286;p60"/>
          <p:cNvSpPr txBox="1"/>
          <p:nvPr/>
        </p:nvSpPr>
        <p:spPr>
          <a:xfrm>
            <a:off x="5038775" y="3100436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Feedback &amp; Ratings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direct user corrections and qualitative comments.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7" name="Google Shape;1287;p60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288" name="Google Shape;1288;p60"/>
          <p:cNvSpPr txBox="1"/>
          <p:nvPr/>
        </p:nvSpPr>
        <p:spPr>
          <a:xfrm>
            <a:off x="5038775" y="4085451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Prompt Histories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previous queries and responses used for contextual continuity.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61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294" name="Google Shape;1294;p61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295" name="Google Shape;1295;p61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296" name="Google Shape;1296;p61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297" name="Google Shape;1297;p61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8" name="Google Shape;1298;p61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299" name="Google Shape;1299;p61"/>
          <p:cNvCxnSpPr>
            <a:endCxn id="1298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0" name="Google Shape;1300;p61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301" name="Google Shape;1301;p61"/>
          <p:cNvCxnSpPr>
            <a:endCxn id="1300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2" name="Google Shape;1302;p61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3" name="Google Shape;1303;p61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304" name="Google Shape;1304;p61"/>
          <p:cNvCxnSpPr>
            <a:endCxn id="1303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5" name="Google Shape;1305;p61"/>
          <p:cNvCxnSpPr>
            <a:stCxn id="1296" idx="1"/>
            <a:endCxn id="1303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6" name="Google Shape;1306;p61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307" name="Google Shape;1307;p61"/>
          <p:cNvCxnSpPr>
            <a:endCxn id="1306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8" name="Google Shape;1308;p61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9" name="Google Shape;1309;p61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310" name="Google Shape;1310;p61"/>
          <p:cNvCxnSpPr>
            <a:endCxn id="1309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1" name="Google Shape;1311;p61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312" name="Google Shape;1312;p61"/>
          <p:cNvCxnSpPr>
            <a:endCxn id="1311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3" name="Google Shape;1313;p61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314" name="Google Shape;1314;p61"/>
          <p:cNvCxnSpPr>
            <a:endCxn id="1313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5" name="Google Shape;1315;p61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6" name="Google Shape;1316;p61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7" name="Google Shape;1317;p61"/>
          <p:cNvSpPr txBox="1"/>
          <p:nvPr/>
        </p:nvSpPr>
        <p:spPr>
          <a:xfrm>
            <a:off x="5158474" y="825850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Research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318" name="Google Shape;1318;p61"/>
          <p:cNvSpPr txBox="1"/>
          <p:nvPr/>
        </p:nvSpPr>
        <p:spPr>
          <a:xfrm>
            <a:off x="5038775" y="132851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Jupyter / Colab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interactive notebooks for rapid prototyping.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9" name="Google Shape;1319;p61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320" name="Google Shape;1320;p61"/>
          <p:cNvSpPr txBox="1"/>
          <p:nvPr/>
        </p:nvSpPr>
        <p:spPr>
          <a:xfrm>
            <a:off x="5038775" y="2086127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PyTorch / TensorFlow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frameworks for building and experimenting with model architectures.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1" name="Google Shape;1321;p61"/>
          <p:cNvSpPr txBox="1"/>
          <p:nvPr/>
        </p:nvSpPr>
        <p:spPr>
          <a:xfrm>
            <a:off x="5038775" y="3064531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HF Datasets / Papers with Code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standardized repos of datasets and benchmarks.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2" name="Google Shape;1322;p61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323" name="Google Shape;1323;p61"/>
          <p:cNvSpPr txBox="1"/>
          <p:nvPr/>
        </p:nvSpPr>
        <p:spPr>
          <a:xfrm>
            <a:off x="5038775" y="4037577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Weights &amp; Biases (W&amp;B) / MLflow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experiment tracking and visualization dashboards.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4" name="Google Shape;1324;p61"/>
          <p:cNvSpPr/>
          <p:nvPr/>
        </p:nvSpPr>
        <p:spPr>
          <a:xfrm>
            <a:off x="959891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62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330" name="Google Shape;1330;p62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331" name="Google Shape;1331;p62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332" name="Google Shape;1332;p62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333" name="Google Shape;1333;p62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4" name="Google Shape;1334;p62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335" name="Google Shape;1335;p62"/>
          <p:cNvCxnSpPr>
            <a:endCxn id="1334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6" name="Google Shape;1336;p62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337" name="Google Shape;1337;p62"/>
          <p:cNvCxnSpPr>
            <a:endCxn id="1336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8" name="Google Shape;1338;p62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9" name="Google Shape;1339;p62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340" name="Google Shape;1340;p62"/>
          <p:cNvCxnSpPr>
            <a:endCxn id="1339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1" name="Google Shape;1341;p62"/>
          <p:cNvCxnSpPr>
            <a:stCxn id="1332" idx="1"/>
            <a:endCxn id="1339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2" name="Google Shape;1342;p62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343" name="Google Shape;1343;p62"/>
          <p:cNvCxnSpPr>
            <a:endCxn id="1342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4" name="Google Shape;1344;p62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5" name="Google Shape;1345;p62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346" name="Google Shape;1346;p62"/>
          <p:cNvCxnSpPr>
            <a:endCxn id="1345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7" name="Google Shape;1347;p62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348" name="Google Shape;1348;p62"/>
          <p:cNvCxnSpPr>
            <a:endCxn id="1347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9" name="Google Shape;1349;p62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350" name="Google Shape;1350;p62"/>
          <p:cNvCxnSpPr>
            <a:endCxn id="1349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1" name="Google Shape;1351;p62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2" name="Google Shape;1352;p62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3" name="Google Shape;1353;p62"/>
          <p:cNvSpPr txBox="1"/>
          <p:nvPr/>
        </p:nvSpPr>
        <p:spPr>
          <a:xfrm>
            <a:off x="5158474" y="78994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Foundation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354" name="Google Shape;1354;p62"/>
          <p:cNvSpPr txBox="1"/>
          <p:nvPr/>
        </p:nvSpPr>
        <p:spPr>
          <a:xfrm>
            <a:off x="5038775" y="132851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PyTorch / TensorFlow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training engines for large-scale models.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5" name="Google Shape;1355;p62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356" name="Google Shape;1356;p62"/>
          <p:cNvSpPr txBox="1"/>
          <p:nvPr/>
        </p:nvSpPr>
        <p:spPr>
          <a:xfrm>
            <a:off x="5038775" y="2086127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DeepSpeed / Megatron-PyTorch Lightning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distributed training and optimization frameworks.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7" name="Google Shape;1357;p62"/>
          <p:cNvSpPr txBox="1"/>
          <p:nvPr/>
        </p:nvSpPr>
        <p:spPr>
          <a:xfrm>
            <a:off x="5038775" y="3064531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Ray Train /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Kubernetes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– tools for managing large GPU clusters.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8" name="Google Shape;1358;p62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359" name="Google Shape;1359;p62"/>
          <p:cNvSpPr txBox="1"/>
          <p:nvPr/>
        </p:nvSpPr>
        <p:spPr>
          <a:xfrm>
            <a:off x="5038775" y="3808977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DVC / LakeFS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data versioning and scalable dataset management.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0" name="Google Shape;1360;p62"/>
          <p:cNvSpPr/>
          <p:nvPr/>
        </p:nvSpPr>
        <p:spPr>
          <a:xfrm>
            <a:off x="959891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63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366" name="Google Shape;1366;p63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367" name="Google Shape;1367;p63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368" name="Google Shape;1368;p63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369" name="Google Shape;1369;p63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0" name="Google Shape;1370;p63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371" name="Google Shape;1371;p63"/>
          <p:cNvCxnSpPr>
            <a:endCxn id="1370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2" name="Google Shape;1372;p63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373" name="Google Shape;1373;p63"/>
          <p:cNvCxnSpPr>
            <a:endCxn id="1372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4" name="Google Shape;1374;p63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5" name="Google Shape;1375;p63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376" name="Google Shape;1376;p63"/>
          <p:cNvCxnSpPr>
            <a:endCxn id="1375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7" name="Google Shape;1377;p63"/>
          <p:cNvCxnSpPr>
            <a:stCxn id="1368" idx="1"/>
            <a:endCxn id="1375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8" name="Google Shape;1378;p63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379" name="Google Shape;1379;p63"/>
          <p:cNvCxnSpPr>
            <a:endCxn id="1378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0" name="Google Shape;1380;p63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1" name="Google Shape;1381;p63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382" name="Google Shape;1382;p63"/>
          <p:cNvCxnSpPr>
            <a:endCxn id="1381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3" name="Google Shape;1383;p63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384" name="Google Shape;1384;p63"/>
          <p:cNvCxnSpPr>
            <a:endCxn id="1383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5" name="Google Shape;1385;p63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386" name="Google Shape;1386;p63"/>
          <p:cNvCxnSpPr>
            <a:endCxn id="1385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7" name="Google Shape;1387;p63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8" name="Google Shape;1388;p63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9" name="Google Shape;1389;p63"/>
          <p:cNvSpPr txBox="1"/>
          <p:nvPr/>
        </p:nvSpPr>
        <p:spPr>
          <a:xfrm>
            <a:off x="5158474" y="70616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Platform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390" name="Google Shape;1390;p63"/>
          <p:cNvSpPr txBox="1"/>
          <p:nvPr/>
        </p:nvSpPr>
        <p:spPr>
          <a:xfrm>
            <a:off x="5038775" y="124473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vLLM / TensorRT-LLM / ONNX Runtime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optimized inference engines for large models.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1" name="Google Shape;1391;p63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392" name="Google Shape;1392;p63"/>
          <p:cNvSpPr txBox="1"/>
          <p:nvPr/>
        </p:nvSpPr>
        <p:spPr>
          <a:xfrm>
            <a:off x="5038775" y="2193844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Docker / Kubernetes / Helm / Terraform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containerization and deployment infrastructure.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3" name="Google Shape;1393;p63"/>
          <p:cNvSpPr txBox="1"/>
          <p:nvPr/>
        </p:nvSpPr>
        <p:spPr>
          <a:xfrm>
            <a:off x="5038775" y="3172248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Hugging Face Hub / MLflow Model Registry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model repositories and registries.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4" name="Google Shape;1394;p63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395" name="Google Shape;1395;p63"/>
          <p:cNvSpPr txBox="1"/>
          <p:nvPr/>
        </p:nvSpPr>
        <p:spPr>
          <a:xfrm>
            <a:off x="5038775" y="4180003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FastAPI / gRPC / API Gateway (Apigee)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frameworks for exposing inference endpoints as APIs.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6" name="Google Shape;1396;p63"/>
          <p:cNvSpPr/>
          <p:nvPr/>
        </p:nvSpPr>
        <p:spPr>
          <a:xfrm>
            <a:off x="959891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64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402" name="Google Shape;1402;p64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403" name="Google Shape;1403;p64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404" name="Google Shape;1404;p64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405" name="Google Shape;1405;p64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6" name="Google Shape;1406;p64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407" name="Google Shape;1407;p64"/>
          <p:cNvCxnSpPr>
            <a:endCxn id="1406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8" name="Google Shape;1408;p64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409" name="Google Shape;1409;p64"/>
          <p:cNvCxnSpPr>
            <a:endCxn id="1408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0" name="Google Shape;1410;p64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1" name="Google Shape;1411;p64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412" name="Google Shape;1412;p64"/>
          <p:cNvCxnSpPr>
            <a:endCxn id="1411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3" name="Google Shape;1413;p64"/>
          <p:cNvCxnSpPr>
            <a:stCxn id="1404" idx="1"/>
            <a:endCxn id="1411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4" name="Google Shape;1414;p64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415" name="Google Shape;1415;p64"/>
          <p:cNvCxnSpPr>
            <a:endCxn id="1414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6" name="Google Shape;1416;p64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7" name="Google Shape;1417;p64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418" name="Google Shape;1418;p64"/>
          <p:cNvCxnSpPr>
            <a:endCxn id="1417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9" name="Google Shape;1419;p64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420" name="Google Shape;1420;p64"/>
          <p:cNvCxnSpPr>
            <a:endCxn id="1419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1" name="Google Shape;1421;p64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422" name="Google Shape;1422;p64"/>
          <p:cNvCxnSpPr>
            <a:endCxn id="1421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3" name="Google Shape;1423;p64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4" name="Google Shape;1424;p64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5" name="Google Shape;1425;p64"/>
          <p:cNvSpPr txBox="1"/>
          <p:nvPr/>
        </p:nvSpPr>
        <p:spPr>
          <a:xfrm>
            <a:off x="5158474" y="70616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Builder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426" name="Google Shape;1426;p64"/>
          <p:cNvSpPr txBox="1"/>
          <p:nvPr/>
        </p:nvSpPr>
        <p:spPr>
          <a:xfrm>
            <a:off x="5038775" y="124473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OpenAI / Anthropic / Together / Ollama APIs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foundation model endpoints for inference and embeddings.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7" name="Google Shape;1427;p64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28" name="Google Shape;1428;p64"/>
          <p:cNvSpPr txBox="1"/>
          <p:nvPr/>
        </p:nvSpPr>
        <p:spPr>
          <a:xfrm>
            <a:off x="5038775" y="2469122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FastAPI / Flask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lightweight frameworks to serve orchestrated logic as APIs.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9" name="Google Shape;1429;p64"/>
          <p:cNvSpPr txBox="1"/>
          <p:nvPr/>
        </p:nvSpPr>
        <p:spPr>
          <a:xfrm>
            <a:off x="5038775" y="3447525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Pinecone / Weaviate / FAISS / Chroma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vector databases for semantic search and retrieval augmentation.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0" name="Google Shape;1430;p64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31" name="Google Shape;1431;p64"/>
          <p:cNvSpPr/>
          <p:nvPr/>
        </p:nvSpPr>
        <p:spPr>
          <a:xfrm>
            <a:off x="959891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65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437" name="Google Shape;1437;p65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438" name="Google Shape;1438;p65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439" name="Google Shape;1439;p65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440" name="Google Shape;1440;p65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1" name="Google Shape;1441;p65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442" name="Google Shape;1442;p65"/>
          <p:cNvCxnSpPr>
            <a:endCxn id="1441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3" name="Google Shape;1443;p65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444" name="Google Shape;1444;p65"/>
          <p:cNvCxnSpPr>
            <a:endCxn id="1443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5" name="Google Shape;1445;p65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6" name="Google Shape;1446;p65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447" name="Google Shape;1447;p65"/>
          <p:cNvCxnSpPr>
            <a:endCxn id="1446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8" name="Google Shape;1448;p65"/>
          <p:cNvCxnSpPr>
            <a:stCxn id="1439" idx="1"/>
            <a:endCxn id="1446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9" name="Google Shape;1449;p65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450" name="Google Shape;1450;p65"/>
          <p:cNvCxnSpPr>
            <a:endCxn id="1449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1" name="Google Shape;1451;p65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2" name="Google Shape;1452;p65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453" name="Google Shape;1453;p65"/>
          <p:cNvCxnSpPr>
            <a:endCxn id="1452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4" name="Google Shape;1454;p65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455" name="Google Shape;1455;p65"/>
          <p:cNvCxnSpPr>
            <a:endCxn id="1454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6" name="Google Shape;1456;p65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457" name="Google Shape;1457;p65"/>
          <p:cNvCxnSpPr>
            <a:endCxn id="1456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8" name="Google Shape;1458;p65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9" name="Google Shape;1459;p65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0" name="Google Shape;1460;p65"/>
          <p:cNvSpPr txBox="1"/>
          <p:nvPr/>
        </p:nvSpPr>
        <p:spPr>
          <a:xfrm>
            <a:off x="5158474" y="70616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Application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461" name="Google Shape;1461;p65"/>
          <p:cNvSpPr txBox="1"/>
          <p:nvPr/>
        </p:nvSpPr>
        <p:spPr>
          <a:xfrm>
            <a:off x="5038775" y="124473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LangChain / LangGraph / CrewAI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orchestration frameworks for multi-step reasoning and RAG.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2" name="Google Shape;1462;p65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63" name="Google Shape;1463;p65"/>
          <p:cNvSpPr txBox="1"/>
          <p:nvPr/>
        </p:nvSpPr>
        <p:spPr>
          <a:xfrm>
            <a:off x="5038775" y="2229750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Next.js / React / Flask / FastAPI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web frameworks for interactive front-ends and APIs.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4" name="Google Shape;1464;p65"/>
          <p:cNvSpPr txBox="1"/>
          <p:nvPr/>
        </p:nvSpPr>
        <p:spPr>
          <a:xfrm>
            <a:off x="5038775" y="3208154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OpenAI API / Anthropic API / Ollama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model-serving interfaces for embedding AI into products.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5" name="Google Shape;1465;p65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66" name="Google Shape;1466;p65"/>
          <p:cNvSpPr/>
          <p:nvPr/>
        </p:nvSpPr>
        <p:spPr>
          <a:xfrm>
            <a:off x="959891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67" name="Google Shape;1467;p65"/>
          <p:cNvSpPr txBox="1"/>
          <p:nvPr/>
        </p:nvSpPr>
        <p:spPr>
          <a:xfrm>
            <a:off x="5038775" y="4198751"/>
            <a:ext cx="41652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PromptLayer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– tools for monitoring prompts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66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473" name="Google Shape;1473;p66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474" name="Google Shape;1474;p66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475" name="Google Shape;1475;p66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476" name="Google Shape;1476;p66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7" name="Google Shape;1477;p66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478" name="Google Shape;1478;p66"/>
          <p:cNvCxnSpPr>
            <a:endCxn id="1477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9" name="Google Shape;1479;p66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480" name="Google Shape;1480;p66"/>
          <p:cNvCxnSpPr>
            <a:endCxn id="1479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1" name="Google Shape;1481;p66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2" name="Google Shape;1482;p66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483" name="Google Shape;1483;p66"/>
          <p:cNvCxnSpPr>
            <a:endCxn id="1482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4" name="Google Shape;1484;p66"/>
          <p:cNvCxnSpPr>
            <a:stCxn id="1475" idx="1"/>
            <a:endCxn id="1482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5" name="Google Shape;1485;p66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486" name="Google Shape;1486;p66"/>
          <p:cNvCxnSpPr>
            <a:endCxn id="1485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7" name="Google Shape;1487;p66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8" name="Google Shape;1488;p66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489" name="Google Shape;1489;p66"/>
          <p:cNvCxnSpPr>
            <a:endCxn id="1488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0" name="Google Shape;1490;p66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491" name="Google Shape;1491;p66"/>
          <p:cNvCxnSpPr>
            <a:endCxn id="1490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2" name="Google Shape;1492;p66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493" name="Google Shape;1493;p66"/>
          <p:cNvCxnSpPr>
            <a:endCxn id="1492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4" name="Google Shape;1494;p66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5" name="Google Shape;1495;p66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6" name="Google Shape;1496;p66"/>
          <p:cNvSpPr txBox="1"/>
          <p:nvPr/>
        </p:nvSpPr>
        <p:spPr>
          <a:xfrm>
            <a:off x="5158474" y="70616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Operation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497" name="Google Shape;1497;p66"/>
          <p:cNvSpPr txBox="1"/>
          <p:nvPr/>
        </p:nvSpPr>
        <p:spPr>
          <a:xfrm>
            <a:off x="5038775" y="208293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LangSmith / LangFuse / Arize AI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observability and evaluation tools for LLM apps.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8" name="Google Shape;1498;p66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99" name="Google Shape;1499;p66"/>
          <p:cNvSpPr txBox="1"/>
          <p:nvPr/>
        </p:nvSpPr>
        <p:spPr>
          <a:xfrm>
            <a:off x="5038775" y="3067950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Prometheus / Grafana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infrastructure monitoring and performance tracking.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0" name="Google Shape;1500;p66"/>
          <p:cNvSpPr txBox="1"/>
          <p:nvPr/>
        </p:nvSpPr>
        <p:spPr>
          <a:xfrm>
            <a:off x="5038775" y="4046354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Guardrails AI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enforcing output safety and compliance.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1" name="Google Shape;1501;p66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02" name="Google Shape;1502;p66"/>
          <p:cNvSpPr/>
          <p:nvPr/>
        </p:nvSpPr>
        <p:spPr>
          <a:xfrm>
            <a:off x="959891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03" name="Google Shape;1503;p66"/>
          <p:cNvSpPr txBox="1"/>
          <p:nvPr/>
        </p:nvSpPr>
        <p:spPr>
          <a:xfrm>
            <a:off x="5038775" y="132093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Tools for Deployment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Docker, Kubernetes, Github Actions.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67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509" name="Google Shape;1509;p67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510" name="Google Shape;1510;p67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511" name="Google Shape;1511;p67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512" name="Google Shape;1512;p67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3" name="Google Shape;1513;p67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514" name="Google Shape;1514;p67"/>
          <p:cNvCxnSpPr>
            <a:endCxn id="1513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5" name="Google Shape;1515;p67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516" name="Google Shape;1516;p67"/>
          <p:cNvCxnSpPr>
            <a:endCxn id="1515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7" name="Google Shape;1517;p67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8" name="Google Shape;1518;p67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519" name="Google Shape;1519;p67"/>
          <p:cNvCxnSpPr>
            <a:endCxn id="1518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0" name="Google Shape;1520;p67"/>
          <p:cNvCxnSpPr>
            <a:stCxn id="1511" idx="1"/>
            <a:endCxn id="1518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1" name="Google Shape;1521;p67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522" name="Google Shape;1522;p67"/>
          <p:cNvCxnSpPr>
            <a:endCxn id="1521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3" name="Google Shape;1523;p67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4" name="Google Shape;1524;p67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525" name="Google Shape;1525;p67"/>
          <p:cNvCxnSpPr>
            <a:endCxn id="1524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6" name="Google Shape;1526;p67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527" name="Google Shape;1527;p67"/>
          <p:cNvCxnSpPr>
            <a:endCxn id="1526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8" name="Google Shape;1528;p67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529" name="Google Shape;1529;p67"/>
          <p:cNvCxnSpPr>
            <a:endCxn id="1528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0" name="Google Shape;1530;p67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1" name="Google Shape;1531;p67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2" name="Google Shape;1532;p67"/>
          <p:cNvSpPr txBox="1"/>
          <p:nvPr/>
        </p:nvSpPr>
        <p:spPr>
          <a:xfrm>
            <a:off x="5158474" y="70616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Distribution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533" name="Google Shape;1533;p67"/>
          <p:cNvSpPr txBox="1"/>
          <p:nvPr/>
        </p:nvSpPr>
        <p:spPr>
          <a:xfrm>
            <a:off x="5038775" y="124473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App Store Connect / Google Play Console / Slack Marketplace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distribution platforms for app publishing.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4" name="Google Shape;1534;p67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35" name="Google Shape;1535;p67"/>
          <p:cNvSpPr txBox="1"/>
          <p:nvPr/>
        </p:nvSpPr>
        <p:spPr>
          <a:xfrm>
            <a:off x="5038775" y="2481090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API Gateway / CDN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API exposure, delivery optimization and controlled rollout.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6" name="Google Shape;1536;p67"/>
          <p:cNvSpPr txBox="1"/>
          <p:nvPr/>
        </p:nvSpPr>
        <p:spPr>
          <a:xfrm>
            <a:off x="5038775" y="3459494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Stripe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For monetization and billing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7" name="Google Shape;1537;p67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38" name="Google Shape;1538;p67"/>
          <p:cNvSpPr/>
          <p:nvPr/>
        </p:nvSpPr>
        <p:spPr>
          <a:xfrm>
            <a:off x="959891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68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544" name="Google Shape;1544;p68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545" name="Google Shape;1545;p68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546" name="Google Shape;1546;p68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547" name="Google Shape;1547;p68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8" name="Google Shape;1548;p68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549" name="Google Shape;1549;p68"/>
          <p:cNvCxnSpPr>
            <a:endCxn id="1548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0" name="Google Shape;1550;p68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551" name="Google Shape;1551;p68"/>
          <p:cNvCxnSpPr>
            <a:endCxn id="1550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2" name="Google Shape;1552;p68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3" name="Google Shape;1553;p68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554" name="Google Shape;1554;p68"/>
          <p:cNvCxnSpPr>
            <a:endCxn id="1553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5" name="Google Shape;1555;p68"/>
          <p:cNvCxnSpPr>
            <a:stCxn id="1546" idx="1"/>
            <a:endCxn id="1553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6" name="Google Shape;1556;p68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557" name="Google Shape;1557;p68"/>
          <p:cNvCxnSpPr>
            <a:endCxn id="1556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8" name="Google Shape;1558;p68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9" name="Google Shape;1559;p68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560" name="Google Shape;1560;p68"/>
          <p:cNvCxnSpPr>
            <a:endCxn id="1559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1" name="Google Shape;1561;p68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562" name="Google Shape;1562;p68"/>
          <p:cNvCxnSpPr>
            <a:endCxn id="1561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3" name="Google Shape;1563;p68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564" name="Google Shape;1564;p68"/>
          <p:cNvCxnSpPr>
            <a:endCxn id="1563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5" name="Google Shape;1565;p68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6" name="Google Shape;1566;p68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7" name="Google Shape;1567;p68"/>
          <p:cNvSpPr txBox="1"/>
          <p:nvPr/>
        </p:nvSpPr>
        <p:spPr>
          <a:xfrm>
            <a:off x="5158474" y="70616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User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568" name="Google Shape;1568;p68"/>
          <p:cNvSpPr txBox="1"/>
          <p:nvPr/>
        </p:nvSpPr>
        <p:spPr>
          <a:xfrm>
            <a:off x="5048821" y="2393313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Prompt Optimization Platforms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PromptPerfect, FlowGPT for refining prompts.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9" name="Google Shape;1569;p68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70" name="Google Shape;1570;p68"/>
          <p:cNvSpPr txBox="1"/>
          <p:nvPr/>
        </p:nvSpPr>
        <p:spPr>
          <a:xfrm>
            <a:off x="5038775" y="1339287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Web &amp; Mobile Clients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browsers, native apps, VS Code extensions, Slack bots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1" name="Google Shape;1571;p68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72" name="Google Shape;1572;p68"/>
          <p:cNvSpPr/>
          <p:nvPr/>
        </p:nvSpPr>
        <p:spPr>
          <a:xfrm>
            <a:off x="959891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69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578" name="Google Shape;1578;p69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579" name="Google Shape;1579;p69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580" name="Google Shape;1580;p69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581" name="Google Shape;1581;p69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2" name="Google Shape;1582;p69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583" name="Google Shape;1583;p69"/>
          <p:cNvCxnSpPr>
            <a:endCxn id="1582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4" name="Google Shape;1584;p69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585" name="Google Shape;1585;p69"/>
          <p:cNvCxnSpPr>
            <a:endCxn id="1584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6" name="Google Shape;1586;p69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People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7" name="Google Shape;1587;p69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588" name="Google Shape;1588;p69"/>
          <p:cNvCxnSpPr>
            <a:endCxn id="1587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9" name="Google Shape;1589;p69"/>
          <p:cNvCxnSpPr>
            <a:stCxn id="1580" idx="1"/>
            <a:endCxn id="1587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0" name="Google Shape;1590;p69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591" name="Google Shape;1591;p69"/>
          <p:cNvCxnSpPr>
            <a:endCxn id="1590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2" name="Google Shape;1592;p69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3" name="Google Shape;1593;p69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594" name="Google Shape;1594;p69"/>
          <p:cNvCxnSpPr>
            <a:endCxn id="1593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5" name="Google Shape;1595;p69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596" name="Google Shape;1596;p69"/>
          <p:cNvCxnSpPr>
            <a:endCxn id="1595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7" name="Google Shape;1597;p69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598" name="Google Shape;1598;p69"/>
          <p:cNvCxnSpPr>
            <a:endCxn id="1597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9" name="Google Shape;1599;p69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0" name="Google Shape;1600;p69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1" name="Google Shape;1601;p69"/>
          <p:cNvSpPr txBox="1"/>
          <p:nvPr/>
        </p:nvSpPr>
        <p:spPr>
          <a:xfrm>
            <a:off x="5158474" y="70616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Research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602" name="Google Shape;1602;p69"/>
          <p:cNvSpPr txBox="1"/>
          <p:nvPr/>
        </p:nvSpPr>
        <p:spPr>
          <a:xfrm>
            <a:off x="5038775" y="124473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 Researchers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– invent algorithms, architectures, and training methods.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3" name="Google Shape;1603;p69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04" name="Google Shape;1604;p69"/>
          <p:cNvSpPr txBox="1"/>
          <p:nvPr/>
        </p:nvSpPr>
        <p:spPr>
          <a:xfrm>
            <a:off x="5038775" y="1954473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Mathematicians / Statisticians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formalize optimization, probability, and learning theories.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5" name="Google Shape;1605;p69"/>
          <p:cNvSpPr txBox="1"/>
          <p:nvPr/>
        </p:nvSpPr>
        <p:spPr>
          <a:xfrm>
            <a:off x="5038775" y="2932876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Research Engineers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implement and test experimental ideas efficiently.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6" name="Google Shape;1606;p69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07" name="Google Shape;1607;p69"/>
          <p:cNvSpPr/>
          <p:nvPr/>
        </p:nvSpPr>
        <p:spPr>
          <a:xfrm>
            <a:off x="959891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08" name="Google Shape;1608;p69"/>
          <p:cNvSpPr/>
          <p:nvPr/>
        </p:nvSpPr>
        <p:spPr>
          <a:xfrm>
            <a:off x="1454630" y="36625"/>
            <a:ext cx="297300" cy="51165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09" name="Google Shape;1609;p69"/>
          <p:cNvSpPr txBox="1"/>
          <p:nvPr/>
        </p:nvSpPr>
        <p:spPr>
          <a:xfrm>
            <a:off x="5038775" y="3999676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Graduate Students &amp; Interns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provide experimentation bandwidth and exploratory labor.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70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615" name="Google Shape;1615;p70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616" name="Google Shape;1616;p70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617" name="Google Shape;1617;p70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618" name="Google Shape;1618;p70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9" name="Google Shape;1619;p70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620" name="Google Shape;1620;p70"/>
          <p:cNvCxnSpPr>
            <a:endCxn id="1619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1" name="Google Shape;1621;p70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622" name="Google Shape;1622;p70"/>
          <p:cNvCxnSpPr>
            <a:endCxn id="1621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3" name="Google Shape;1623;p70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People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4" name="Google Shape;1624;p70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625" name="Google Shape;1625;p70"/>
          <p:cNvCxnSpPr>
            <a:endCxn id="1624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6" name="Google Shape;1626;p70"/>
          <p:cNvCxnSpPr>
            <a:stCxn id="1617" idx="1"/>
            <a:endCxn id="1624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7" name="Google Shape;1627;p70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628" name="Google Shape;1628;p70"/>
          <p:cNvCxnSpPr>
            <a:endCxn id="1627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9" name="Google Shape;1629;p70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0" name="Google Shape;1630;p70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631" name="Google Shape;1631;p70"/>
          <p:cNvCxnSpPr>
            <a:endCxn id="1630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2" name="Google Shape;1632;p70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633" name="Google Shape;1633;p70"/>
          <p:cNvCxnSpPr>
            <a:endCxn id="1632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4" name="Google Shape;1634;p70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635" name="Google Shape;1635;p70"/>
          <p:cNvCxnSpPr>
            <a:endCxn id="1634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6" name="Google Shape;1636;p70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7" name="Google Shape;1637;p70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8" name="Google Shape;1638;p70"/>
          <p:cNvSpPr txBox="1"/>
          <p:nvPr/>
        </p:nvSpPr>
        <p:spPr>
          <a:xfrm>
            <a:off x="5158474" y="70616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Foundation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639" name="Google Shape;1639;p70"/>
          <p:cNvSpPr txBox="1"/>
          <p:nvPr/>
        </p:nvSpPr>
        <p:spPr>
          <a:xfrm>
            <a:off x="5038775" y="124473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Applied Scientists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translate research innovations into scalable architectures.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0" name="Google Shape;1640;p70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41" name="Google Shape;1641;p70"/>
          <p:cNvSpPr txBox="1"/>
          <p:nvPr/>
        </p:nvSpPr>
        <p:spPr>
          <a:xfrm>
            <a:off x="5038775" y="2169907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Engineers/Curators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clean, deduplicate, and balance massive training datasets.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2" name="Google Shape;1642;p70"/>
          <p:cNvSpPr txBox="1"/>
          <p:nvPr/>
        </p:nvSpPr>
        <p:spPr>
          <a:xfrm>
            <a:off x="5038775" y="3148311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Distributed Systems Engineers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optimize compute, storage, and networking for model training.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3" name="Google Shape;1643;p70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44" name="Google Shape;1644;p70"/>
          <p:cNvSpPr/>
          <p:nvPr/>
        </p:nvSpPr>
        <p:spPr>
          <a:xfrm>
            <a:off x="959891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45" name="Google Shape;1645;p70"/>
          <p:cNvSpPr/>
          <p:nvPr/>
        </p:nvSpPr>
        <p:spPr>
          <a:xfrm>
            <a:off x="1454630" y="36625"/>
            <a:ext cx="297300" cy="51165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46" name="Google Shape;1646;p70"/>
          <p:cNvSpPr txBox="1"/>
          <p:nvPr/>
        </p:nvSpPr>
        <p:spPr>
          <a:xfrm>
            <a:off x="5038775" y="4131331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Infrastructure Architects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design GPU/TPU clusters and storage for model training.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71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652" name="Google Shape;1652;p71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653" name="Google Shape;1653;p71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654" name="Google Shape;1654;p71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655" name="Google Shape;1655;p71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6" name="Google Shape;1656;p71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657" name="Google Shape;1657;p71"/>
          <p:cNvCxnSpPr>
            <a:endCxn id="1656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8" name="Google Shape;1658;p71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659" name="Google Shape;1659;p71"/>
          <p:cNvCxnSpPr>
            <a:endCxn id="1658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0" name="Google Shape;1660;p71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People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1" name="Google Shape;1661;p71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662" name="Google Shape;1662;p71"/>
          <p:cNvCxnSpPr>
            <a:endCxn id="1661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3" name="Google Shape;1663;p71"/>
          <p:cNvCxnSpPr>
            <a:stCxn id="1654" idx="1"/>
            <a:endCxn id="1661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4" name="Google Shape;1664;p71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665" name="Google Shape;1665;p71"/>
          <p:cNvCxnSpPr>
            <a:endCxn id="1664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6" name="Google Shape;1666;p71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7" name="Google Shape;1667;p71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668" name="Google Shape;1668;p71"/>
          <p:cNvCxnSpPr>
            <a:endCxn id="1667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9" name="Google Shape;1669;p71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670" name="Google Shape;1670;p71"/>
          <p:cNvCxnSpPr>
            <a:endCxn id="1669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1" name="Google Shape;1671;p71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672" name="Google Shape;1672;p71"/>
          <p:cNvCxnSpPr>
            <a:endCxn id="1671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3" name="Google Shape;1673;p71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4" name="Google Shape;1674;p71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5" name="Google Shape;1675;p71"/>
          <p:cNvSpPr txBox="1"/>
          <p:nvPr/>
        </p:nvSpPr>
        <p:spPr>
          <a:xfrm>
            <a:off x="5158474" y="70616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Platform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676" name="Google Shape;1676;p71"/>
          <p:cNvSpPr txBox="1"/>
          <p:nvPr/>
        </p:nvSpPr>
        <p:spPr>
          <a:xfrm>
            <a:off x="5038775" y="124473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MLOps / DevOps Engineers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handle model serving, containerization, and scaling.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7" name="Google Shape;1677;p71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78" name="Google Shape;1678;p71"/>
          <p:cNvSpPr txBox="1"/>
          <p:nvPr/>
        </p:nvSpPr>
        <p:spPr>
          <a:xfrm>
            <a:off x="5038775" y="2169907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Backend Developers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build inference APIs and SDKs for model access.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9" name="Google Shape;1679;p71"/>
          <p:cNvSpPr txBox="1"/>
          <p:nvPr/>
        </p:nvSpPr>
        <p:spPr>
          <a:xfrm>
            <a:off x="5038775" y="3148311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Infrastructure Reliability Engineers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ensure uptime, latency, and resilience.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0" name="Google Shape;1680;p71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81" name="Google Shape;1681;p71"/>
          <p:cNvSpPr/>
          <p:nvPr/>
        </p:nvSpPr>
        <p:spPr>
          <a:xfrm>
            <a:off x="959891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82" name="Google Shape;1682;p71"/>
          <p:cNvSpPr/>
          <p:nvPr/>
        </p:nvSpPr>
        <p:spPr>
          <a:xfrm>
            <a:off x="1454630" y="36625"/>
            <a:ext cx="297300" cy="51165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83" name="Google Shape;1683;p71"/>
          <p:cNvSpPr txBox="1"/>
          <p:nvPr/>
        </p:nvSpPr>
        <p:spPr>
          <a:xfrm>
            <a:off x="5038775" y="4131331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Security Experts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implement API safety, access control, and rate limiting.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72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689" name="Google Shape;1689;p72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690" name="Google Shape;1690;p72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691" name="Google Shape;1691;p72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692" name="Google Shape;1692;p72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3" name="Google Shape;1693;p72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694" name="Google Shape;1694;p72"/>
          <p:cNvCxnSpPr>
            <a:endCxn id="1693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5" name="Google Shape;1695;p72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696" name="Google Shape;1696;p72"/>
          <p:cNvCxnSpPr>
            <a:endCxn id="1695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7" name="Google Shape;1697;p72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People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8" name="Google Shape;1698;p72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699" name="Google Shape;1699;p72"/>
          <p:cNvCxnSpPr>
            <a:endCxn id="1698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0" name="Google Shape;1700;p72"/>
          <p:cNvCxnSpPr>
            <a:stCxn id="1691" idx="1"/>
            <a:endCxn id="1698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1" name="Google Shape;1701;p72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702" name="Google Shape;1702;p72"/>
          <p:cNvCxnSpPr>
            <a:endCxn id="1701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3" name="Google Shape;1703;p72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4" name="Google Shape;1704;p72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705" name="Google Shape;1705;p72"/>
          <p:cNvCxnSpPr>
            <a:endCxn id="1704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6" name="Google Shape;1706;p72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707" name="Google Shape;1707;p72"/>
          <p:cNvCxnSpPr>
            <a:endCxn id="1706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8" name="Google Shape;1708;p72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709" name="Google Shape;1709;p72"/>
          <p:cNvCxnSpPr>
            <a:endCxn id="1708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0" name="Google Shape;1710;p72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1" name="Google Shape;1711;p72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2" name="Google Shape;1712;p72"/>
          <p:cNvSpPr txBox="1"/>
          <p:nvPr/>
        </p:nvSpPr>
        <p:spPr>
          <a:xfrm>
            <a:off x="5158474" y="70616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Builder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713" name="Google Shape;1713;p72"/>
          <p:cNvSpPr txBox="1"/>
          <p:nvPr/>
        </p:nvSpPr>
        <p:spPr>
          <a:xfrm>
            <a:off x="5038775" y="124473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 Engineers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design reasoning chains, RAG systems, and agent loops.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4" name="Google Shape;1714;p72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15" name="Google Shape;1715;p72"/>
          <p:cNvSpPr txBox="1"/>
          <p:nvPr/>
        </p:nvSpPr>
        <p:spPr>
          <a:xfrm>
            <a:off x="5038775" y="2169907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Framework Developers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build libraries like LangChain, LangGraph, or LlamaIndex.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6" name="Google Shape;1716;p72"/>
          <p:cNvSpPr txBox="1"/>
          <p:nvPr/>
        </p:nvSpPr>
        <p:spPr>
          <a:xfrm>
            <a:off x="5038775" y="3148311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Prompt Engineers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craft and test prompt sequences for reliable reasoning.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7" name="Google Shape;1717;p72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18" name="Google Shape;1718;p72"/>
          <p:cNvSpPr/>
          <p:nvPr/>
        </p:nvSpPr>
        <p:spPr>
          <a:xfrm>
            <a:off x="959891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19" name="Google Shape;1719;p72"/>
          <p:cNvSpPr/>
          <p:nvPr/>
        </p:nvSpPr>
        <p:spPr>
          <a:xfrm>
            <a:off x="1454630" y="36625"/>
            <a:ext cx="297300" cy="51165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20" name="Google Shape;1720;p72"/>
          <p:cNvSpPr txBox="1"/>
          <p:nvPr/>
        </p:nvSpPr>
        <p:spPr>
          <a:xfrm>
            <a:off x="5038775" y="4131331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Open-Source Contributors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extend, document, and maintain builder-level frameworks.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73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726" name="Google Shape;1726;p73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727" name="Google Shape;1727;p73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728" name="Google Shape;1728;p73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729" name="Google Shape;1729;p73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0" name="Google Shape;1730;p73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731" name="Google Shape;1731;p73"/>
          <p:cNvCxnSpPr>
            <a:endCxn id="1730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2" name="Google Shape;1732;p73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733" name="Google Shape;1733;p73"/>
          <p:cNvCxnSpPr>
            <a:endCxn id="1732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4" name="Google Shape;1734;p73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People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5" name="Google Shape;1735;p73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736" name="Google Shape;1736;p73"/>
          <p:cNvCxnSpPr>
            <a:endCxn id="1735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7" name="Google Shape;1737;p73"/>
          <p:cNvCxnSpPr>
            <a:stCxn id="1728" idx="1"/>
            <a:endCxn id="1735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8" name="Google Shape;1738;p73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739" name="Google Shape;1739;p73"/>
          <p:cNvCxnSpPr>
            <a:endCxn id="1738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0" name="Google Shape;1740;p73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1" name="Google Shape;1741;p73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742" name="Google Shape;1742;p73"/>
          <p:cNvCxnSpPr>
            <a:endCxn id="1741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3" name="Google Shape;1743;p73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744" name="Google Shape;1744;p73"/>
          <p:cNvCxnSpPr>
            <a:endCxn id="1743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5" name="Google Shape;1745;p73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746" name="Google Shape;1746;p73"/>
          <p:cNvCxnSpPr>
            <a:endCxn id="1745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7" name="Google Shape;1747;p73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8" name="Google Shape;1748;p73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9" name="Google Shape;1749;p73"/>
          <p:cNvSpPr txBox="1"/>
          <p:nvPr/>
        </p:nvSpPr>
        <p:spPr>
          <a:xfrm>
            <a:off x="5158474" y="70616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Application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750" name="Google Shape;1750;p73"/>
          <p:cNvSpPr txBox="1"/>
          <p:nvPr/>
        </p:nvSpPr>
        <p:spPr>
          <a:xfrm>
            <a:off x="5038775" y="124473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 Engineers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design reasoning chains, RAG systems, and agent loops.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1" name="Google Shape;1751;p73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52" name="Google Shape;1752;p73"/>
          <p:cNvSpPr txBox="1"/>
          <p:nvPr/>
        </p:nvSpPr>
        <p:spPr>
          <a:xfrm>
            <a:off x="5038775" y="2169907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Product Managers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define use cases, target users, and success metrics.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3" name="Google Shape;1753;p73"/>
          <p:cNvSpPr txBox="1"/>
          <p:nvPr/>
        </p:nvSpPr>
        <p:spPr>
          <a:xfrm>
            <a:off x="5038775" y="3148311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Frontend &amp; UX Designers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design intuitive AI interfaces and visual feedback systems.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4" name="Google Shape;1754;p73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55" name="Google Shape;1755;p73"/>
          <p:cNvSpPr/>
          <p:nvPr/>
        </p:nvSpPr>
        <p:spPr>
          <a:xfrm>
            <a:off x="959891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56" name="Google Shape;1756;p73"/>
          <p:cNvSpPr/>
          <p:nvPr/>
        </p:nvSpPr>
        <p:spPr>
          <a:xfrm>
            <a:off x="1454630" y="36625"/>
            <a:ext cx="297300" cy="51165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57" name="Google Shape;1757;p73"/>
          <p:cNvSpPr txBox="1"/>
          <p:nvPr/>
        </p:nvSpPr>
        <p:spPr>
          <a:xfrm>
            <a:off x="5038775" y="4131331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Full-Stack Developers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integrate builder logic into functional products.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74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763" name="Google Shape;1763;p74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764" name="Google Shape;1764;p74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765" name="Google Shape;1765;p74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766" name="Google Shape;1766;p74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7" name="Google Shape;1767;p74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768" name="Google Shape;1768;p74"/>
          <p:cNvCxnSpPr>
            <a:endCxn id="1767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9" name="Google Shape;1769;p74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770" name="Google Shape;1770;p74"/>
          <p:cNvCxnSpPr>
            <a:endCxn id="1769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1" name="Google Shape;1771;p74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People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2" name="Google Shape;1772;p74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773" name="Google Shape;1773;p74"/>
          <p:cNvCxnSpPr>
            <a:endCxn id="1772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4" name="Google Shape;1774;p74"/>
          <p:cNvCxnSpPr>
            <a:stCxn id="1765" idx="1"/>
            <a:endCxn id="1772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5" name="Google Shape;1775;p74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776" name="Google Shape;1776;p74"/>
          <p:cNvCxnSpPr>
            <a:endCxn id="1775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7" name="Google Shape;1777;p74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8" name="Google Shape;1778;p74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779" name="Google Shape;1779;p74"/>
          <p:cNvCxnSpPr>
            <a:endCxn id="1778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0" name="Google Shape;1780;p74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781" name="Google Shape;1781;p74"/>
          <p:cNvCxnSpPr>
            <a:endCxn id="1780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2" name="Google Shape;1782;p74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783" name="Google Shape;1783;p74"/>
          <p:cNvCxnSpPr>
            <a:endCxn id="1782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4" name="Google Shape;1784;p74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5" name="Google Shape;1785;p74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6" name="Google Shape;1786;p74"/>
          <p:cNvSpPr txBox="1"/>
          <p:nvPr/>
        </p:nvSpPr>
        <p:spPr>
          <a:xfrm>
            <a:off x="5158474" y="70616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Operation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787" name="Google Shape;1787;p74"/>
          <p:cNvSpPr txBox="1"/>
          <p:nvPr/>
        </p:nvSpPr>
        <p:spPr>
          <a:xfrm>
            <a:off x="5038775" y="124473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AIOps / LLMOps Engineers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monitor model behavior and performance in production.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8" name="Google Shape;1788;p74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89" name="Google Shape;1789;p74"/>
          <p:cNvSpPr txBox="1"/>
          <p:nvPr/>
        </p:nvSpPr>
        <p:spPr>
          <a:xfrm>
            <a:off x="5038775" y="2229750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Observability Experts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study logs and telemetry to detect drifts.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0" name="Google Shape;1790;p74"/>
          <p:cNvSpPr txBox="1"/>
          <p:nvPr/>
        </p:nvSpPr>
        <p:spPr>
          <a:xfrm>
            <a:off x="5038775" y="3016656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Trust &amp; Safety Teams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enforce output guardrails, content policies, and ethical standards.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1" name="Google Shape;1791;p74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92" name="Google Shape;1792;p74"/>
          <p:cNvSpPr/>
          <p:nvPr/>
        </p:nvSpPr>
        <p:spPr>
          <a:xfrm>
            <a:off x="959891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93" name="Google Shape;1793;p74"/>
          <p:cNvSpPr/>
          <p:nvPr/>
        </p:nvSpPr>
        <p:spPr>
          <a:xfrm>
            <a:off x="1454630" y="36625"/>
            <a:ext cx="297300" cy="51165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75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799" name="Google Shape;1799;p75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800" name="Google Shape;1800;p75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801" name="Google Shape;1801;p75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802" name="Google Shape;1802;p75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3" name="Google Shape;1803;p75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804" name="Google Shape;1804;p75"/>
          <p:cNvCxnSpPr>
            <a:endCxn id="1803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5" name="Google Shape;1805;p75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806" name="Google Shape;1806;p75"/>
          <p:cNvCxnSpPr>
            <a:endCxn id="1805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7" name="Google Shape;1807;p75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People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8" name="Google Shape;1808;p75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809" name="Google Shape;1809;p75"/>
          <p:cNvCxnSpPr>
            <a:endCxn id="1808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0" name="Google Shape;1810;p75"/>
          <p:cNvCxnSpPr>
            <a:stCxn id="1801" idx="1"/>
            <a:endCxn id="1808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1" name="Google Shape;1811;p75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812" name="Google Shape;1812;p75"/>
          <p:cNvCxnSpPr>
            <a:endCxn id="1811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3" name="Google Shape;1813;p75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4" name="Google Shape;1814;p75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815" name="Google Shape;1815;p75"/>
          <p:cNvCxnSpPr>
            <a:endCxn id="1814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6" name="Google Shape;1816;p75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817" name="Google Shape;1817;p75"/>
          <p:cNvCxnSpPr>
            <a:endCxn id="1816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8" name="Google Shape;1818;p75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819" name="Google Shape;1819;p75"/>
          <p:cNvCxnSpPr>
            <a:endCxn id="1818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0" name="Google Shape;1820;p75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1" name="Google Shape;1821;p75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2" name="Google Shape;1822;p75"/>
          <p:cNvSpPr txBox="1"/>
          <p:nvPr/>
        </p:nvSpPr>
        <p:spPr>
          <a:xfrm>
            <a:off x="5158474" y="70616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Distribution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823" name="Google Shape;1823;p75"/>
          <p:cNvSpPr txBox="1"/>
          <p:nvPr/>
        </p:nvSpPr>
        <p:spPr>
          <a:xfrm>
            <a:off x="5038775" y="124473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Growth &amp; Product Marketers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craft messaging, demos, and launch campaigns.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4" name="Google Shape;1824;p75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25" name="Google Shape;1825;p75"/>
          <p:cNvSpPr txBox="1"/>
          <p:nvPr/>
        </p:nvSpPr>
        <p:spPr>
          <a:xfrm>
            <a:off x="5038775" y="2229750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Developer Relations (DevRel) Teams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build tutorials, docs, and SDKs for external developers.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6" name="Google Shape;1826;p75"/>
          <p:cNvSpPr txBox="1"/>
          <p:nvPr/>
        </p:nvSpPr>
        <p:spPr>
          <a:xfrm>
            <a:off x="5038775" y="3220122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Sales Engineers / Solution Architects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customize deployments for enterprise clients.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7" name="Google Shape;1827;p75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28" name="Google Shape;1828;p75"/>
          <p:cNvSpPr/>
          <p:nvPr/>
        </p:nvSpPr>
        <p:spPr>
          <a:xfrm>
            <a:off x="959891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29" name="Google Shape;1829;p75"/>
          <p:cNvSpPr/>
          <p:nvPr/>
        </p:nvSpPr>
        <p:spPr>
          <a:xfrm>
            <a:off x="1454630" y="36625"/>
            <a:ext cx="297300" cy="51165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30" name="Google Shape;1830;p75"/>
          <p:cNvSpPr txBox="1"/>
          <p:nvPr/>
        </p:nvSpPr>
        <p:spPr>
          <a:xfrm>
            <a:off x="5038775" y="4170428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Localization Specialists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adapt AI products for different languages and regions.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76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836" name="Google Shape;1836;p76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837" name="Google Shape;1837;p76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838" name="Google Shape;1838;p76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839" name="Google Shape;1839;p76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0" name="Google Shape;1840;p76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841" name="Google Shape;1841;p76"/>
          <p:cNvCxnSpPr>
            <a:endCxn id="1840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2" name="Google Shape;1842;p76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843" name="Google Shape;1843;p76"/>
          <p:cNvCxnSpPr>
            <a:endCxn id="1842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4" name="Google Shape;1844;p76"/>
          <p:cNvSpPr txBox="1"/>
          <p:nvPr/>
        </p:nvSpPr>
        <p:spPr>
          <a:xfrm>
            <a:off x="6557499" y="100526"/>
            <a:ext cx="295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People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5" name="Google Shape;1845;p76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846" name="Google Shape;1846;p76"/>
          <p:cNvCxnSpPr>
            <a:endCxn id="1845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7" name="Google Shape;1847;p76"/>
          <p:cNvCxnSpPr>
            <a:stCxn id="1838" idx="1"/>
            <a:endCxn id="1845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8" name="Google Shape;1848;p76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849" name="Google Shape;1849;p76"/>
          <p:cNvCxnSpPr>
            <a:endCxn id="1848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0" name="Google Shape;1850;p76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1" name="Google Shape;1851;p76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852" name="Google Shape;1852;p76"/>
          <p:cNvCxnSpPr>
            <a:endCxn id="1851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3" name="Google Shape;1853;p76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854" name="Google Shape;1854;p76"/>
          <p:cNvCxnSpPr>
            <a:endCxn id="1853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5" name="Google Shape;1855;p76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856" name="Google Shape;1856;p76"/>
          <p:cNvCxnSpPr>
            <a:endCxn id="1855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7" name="Google Shape;1857;p76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8" name="Google Shape;1858;p76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9" name="Google Shape;1859;p76"/>
          <p:cNvSpPr txBox="1"/>
          <p:nvPr/>
        </p:nvSpPr>
        <p:spPr>
          <a:xfrm>
            <a:off x="5158474" y="706164"/>
            <a:ext cx="366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User</a:t>
            </a:r>
            <a:r>
              <a:rPr b="1" lang="en" sz="1700">
                <a:solidFill>
                  <a:schemeClr val="dk2"/>
                </a:solidFill>
              </a:rPr>
              <a:t> Layer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1860" name="Google Shape;1860;p76"/>
          <p:cNvSpPr txBox="1"/>
          <p:nvPr/>
        </p:nvSpPr>
        <p:spPr>
          <a:xfrm>
            <a:off x="5038775" y="1244738"/>
            <a:ext cx="4165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End Users / Consumers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interact with AI systems through prompts, queries, and feedback.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1" name="Google Shape;1861;p76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62" name="Google Shape;1862;p76"/>
          <p:cNvSpPr txBox="1"/>
          <p:nvPr/>
        </p:nvSpPr>
        <p:spPr>
          <a:xfrm>
            <a:off x="5038775" y="2229750"/>
            <a:ext cx="4165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Enterprise Users / Teams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integrate AI into workflows and business processes.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3" name="Google Shape;1863;p76"/>
          <p:cNvSpPr txBox="1"/>
          <p:nvPr/>
        </p:nvSpPr>
        <p:spPr>
          <a:xfrm>
            <a:off x="5038775" y="3196185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Prompt Creators / Community Builders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share templates, custom GPTs, and extensions.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4" name="Google Shape;1864;p76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65" name="Google Shape;1865;p76"/>
          <p:cNvSpPr/>
          <p:nvPr/>
        </p:nvSpPr>
        <p:spPr>
          <a:xfrm>
            <a:off x="959891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66" name="Google Shape;1866;p76"/>
          <p:cNvSpPr/>
          <p:nvPr/>
        </p:nvSpPr>
        <p:spPr>
          <a:xfrm>
            <a:off x="1454630" y="36625"/>
            <a:ext cx="297300" cy="51165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67" name="Google Shape;1867;p76"/>
          <p:cNvSpPr txBox="1"/>
          <p:nvPr/>
        </p:nvSpPr>
        <p:spPr>
          <a:xfrm>
            <a:off x="5038775" y="4170428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Educators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teach others how to use AI effectively and responsibly.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77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873" name="Google Shape;1873;p77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874" name="Google Shape;1874;p77"/>
          <p:cNvSpPr txBox="1"/>
          <p:nvPr/>
        </p:nvSpPr>
        <p:spPr>
          <a:xfrm>
            <a:off x="382800" y="-235600"/>
            <a:ext cx="287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725" lIns="87725" spcFirstLastPara="1" rIns="87725" wrap="square" tIns="87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 </a:t>
            </a:r>
            <a:endParaRPr sz="1343"/>
          </a:p>
        </p:txBody>
      </p:sp>
      <p:sp>
        <p:nvSpPr>
          <p:cNvPr id="1875" name="Google Shape;1875;p77"/>
          <p:cNvSpPr/>
          <p:nvPr/>
        </p:nvSpPr>
        <p:spPr>
          <a:xfrm>
            <a:off x="2287838" y="0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RESEARCH</a:t>
            </a:r>
            <a:endParaRPr sz="1139"/>
          </a:p>
        </p:txBody>
      </p:sp>
      <p:cxnSp>
        <p:nvCxnSpPr>
          <p:cNvPr id="1876" name="Google Shape;1876;p77"/>
          <p:cNvCxnSpPr/>
          <p:nvPr/>
        </p:nvCxnSpPr>
        <p:spPr>
          <a:xfrm>
            <a:off x="5038766" y="11975"/>
            <a:ext cx="0" cy="5170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7" name="Google Shape;1877;p77"/>
          <p:cNvSpPr/>
          <p:nvPr/>
        </p:nvSpPr>
        <p:spPr>
          <a:xfrm>
            <a:off x="2287838" y="68340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FOUNDATION</a:t>
            </a:r>
            <a:endParaRPr sz="1139"/>
          </a:p>
        </p:txBody>
      </p:sp>
      <p:cxnSp>
        <p:nvCxnSpPr>
          <p:cNvPr id="1878" name="Google Shape;1878;p77"/>
          <p:cNvCxnSpPr>
            <a:endCxn id="1877" idx="0"/>
          </p:cNvCxnSpPr>
          <p:nvPr/>
        </p:nvCxnSpPr>
        <p:spPr>
          <a:xfrm>
            <a:off x="3090938" y="35970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9" name="Google Shape;1879;p77"/>
          <p:cNvSpPr/>
          <p:nvPr/>
        </p:nvSpPr>
        <p:spPr>
          <a:xfrm>
            <a:off x="2287838" y="136681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PLATFORM</a:t>
            </a:r>
            <a:endParaRPr sz="1139"/>
          </a:p>
        </p:txBody>
      </p:sp>
      <p:cxnSp>
        <p:nvCxnSpPr>
          <p:cNvPr id="1880" name="Google Shape;1880;p77"/>
          <p:cNvCxnSpPr>
            <a:endCxn id="1879" idx="0"/>
          </p:cNvCxnSpPr>
          <p:nvPr/>
        </p:nvCxnSpPr>
        <p:spPr>
          <a:xfrm>
            <a:off x="3090938" y="104311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1" name="Google Shape;1881;p77"/>
          <p:cNvSpPr txBox="1"/>
          <p:nvPr/>
        </p:nvSpPr>
        <p:spPr>
          <a:xfrm>
            <a:off x="5213250" y="100525"/>
            <a:ext cx="4300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What have we </a:t>
            </a:r>
            <a:r>
              <a:rPr lang="en" sz="2200" u="sng">
                <a:solidFill>
                  <a:srgbClr val="056FCD"/>
                </a:solidFill>
                <a:latin typeface="Poppins"/>
                <a:ea typeface="Poppins"/>
                <a:cs typeface="Poppins"/>
                <a:sym typeface="Poppins"/>
              </a:rPr>
              <a:t>achieved?</a:t>
            </a:r>
            <a:endParaRPr sz="2200" u="sng">
              <a:solidFill>
                <a:srgbClr val="056FC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2" name="Google Shape;1882;p77"/>
          <p:cNvSpPr/>
          <p:nvPr/>
        </p:nvSpPr>
        <p:spPr>
          <a:xfrm>
            <a:off x="2287838" y="205022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BUILDER</a:t>
            </a:r>
            <a:endParaRPr sz="1139"/>
          </a:p>
        </p:txBody>
      </p:sp>
      <p:cxnSp>
        <p:nvCxnSpPr>
          <p:cNvPr id="1883" name="Google Shape;1883;p77"/>
          <p:cNvCxnSpPr>
            <a:endCxn id="1882" idx="0"/>
          </p:cNvCxnSpPr>
          <p:nvPr/>
        </p:nvCxnSpPr>
        <p:spPr>
          <a:xfrm>
            <a:off x="3090938" y="172652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4" name="Google Shape;1884;p77"/>
          <p:cNvCxnSpPr>
            <a:stCxn id="1875" idx="1"/>
            <a:endCxn id="1882" idx="1"/>
          </p:cNvCxnSpPr>
          <p:nvPr/>
        </p:nvCxnSpPr>
        <p:spPr>
          <a:xfrm>
            <a:off x="2287838" y="179850"/>
            <a:ext cx="600" cy="205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5" name="Google Shape;1885;p77"/>
          <p:cNvSpPr/>
          <p:nvPr/>
        </p:nvSpPr>
        <p:spPr>
          <a:xfrm>
            <a:off x="2287838" y="2733626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APPLICATION</a:t>
            </a:r>
            <a:endParaRPr sz="1139"/>
          </a:p>
        </p:txBody>
      </p:sp>
      <p:cxnSp>
        <p:nvCxnSpPr>
          <p:cNvPr id="1886" name="Google Shape;1886;p77"/>
          <p:cNvCxnSpPr>
            <a:endCxn id="1885" idx="0"/>
          </p:cNvCxnSpPr>
          <p:nvPr/>
        </p:nvCxnSpPr>
        <p:spPr>
          <a:xfrm>
            <a:off x="3090938" y="2409926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7" name="Google Shape;1887;p77"/>
          <p:cNvCxnSpPr/>
          <p:nvPr/>
        </p:nvCxnSpPr>
        <p:spPr>
          <a:xfrm>
            <a:off x="3894038" y="1546668"/>
            <a:ext cx="600" cy="136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8" name="Google Shape;1888;p77"/>
          <p:cNvSpPr/>
          <p:nvPr/>
        </p:nvSpPr>
        <p:spPr>
          <a:xfrm>
            <a:off x="2287838" y="3417048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OPERATION</a:t>
            </a:r>
            <a:endParaRPr sz="1139"/>
          </a:p>
        </p:txBody>
      </p:sp>
      <p:cxnSp>
        <p:nvCxnSpPr>
          <p:cNvPr id="1889" name="Google Shape;1889;p77"/>
          <p:cNvCxnSpPr>
            <a:endCxn id="1888" idx="0"/>
          </p:cNvCxnSpPr>
          <p:nvPr/>
        </p:nvCxnSpPr>
        <p:spPr>
          <a:xfrm>
            <a:off x="3090938" y="3093348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0" name="Google Shape;1890;p77"/>
          <p:cNvSpPr/>
          <p:nvPr/>
        </p:nvSpPr>
        <p:spPr>
          <a:xfrm>
            <a:off x="2287838" y="4100469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DISTRIBUTION</a:t>
            </a:r>
            <a:endParaRPr sz="1139"/>
          </a:p>
        </p:txBody>
      </p:sp>
      <p:cxnSp>
        <p:nvCxnSpPr>
          <p:cNvPr id="1891" name="Google Shape;1891;p77"/>
          <p:cNvCxnSpPr>
            <a:endCxn id="1890" idx="0"/>
          </p:cNvCxnSpPr>
          <p:nvPr/>
        </p:nvCxnSpPr>
        <p:spPr>
          <a:xfrm>
            <a:off x="3090938" y="3776769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2" name="Google Shape;1892;p77"/>
          <p:cNvSpPr/>
          <p:nvPr/>
        </p:nvSpPr>
        <p:spPr>
          <a:xfrm>
            <a:off x="2287838" y="4783891"/>
            <a:ext cx="1606200" cy="35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25" lIns="74425" spcFirstLastPara="1" rIns="74425" wrap="square" tIns="74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/>
              <a:t>USER</a:t>
            </a:r>
            <a:endParaRPr sz="1139"/>
          </a:p>
        </p:txBody>
      </p:sp>
      <p:cxnSp>
        <p:nvCxnSpPr>
          <p:cNvPr id="1893" name="Google Shape;1893;p77"/>
          <p:cNvCxnSpPr>
            <a:endCxn id="1892" idx="0"/>
          </p:cNvCxnSpPr>
          <p:nvPr/>
        </p:nvCxnSpPr>
        <p:spPr>
          <a:xfrm>
            <a:off x="3090938" y="4460191"/>
            <a:ext cx="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4" name="Google Shape;1894;p77"/>
          <p:cNvCxnSpPr/>
          <p:nvPr/>
        </p:nvCxnSpPr>
        <p:spPr>
          <a:xfrm rot="10800000">
            <a:off x="4553649" y="13525"/>
            <a:ext cx="0" cy="5116500"/>
          </a:xfrm>
          <a:prstGeom prst="straightConnector1">
            <a:avLst/>
          </a:pr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5" name="Google Shape;1895;p77"/>
          <p:cNvSpPr txBox="1"/>
          <p:nvPr/>
        </p:nvSpPr>
        <p:spPr>
          <a:xfrm>
            <a:off x="4403245" y="1747425"/>
            <a:ext cx="3231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6" name="Google Shape;1896;p77"/>
          <p:cNvSpPr txBox="1"/>
          <p:nvPr/>
        </p:nvSpPr>
        <p:spPr>
          <a:xfrm>
            <a:off x="5038775" y="939945"/>
            <a:ext cx="4165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Full picture of GenAI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7" name="Google Shape;1897;p77"/>
          <p:cNvSpPr/>
          <p:nvPr/>
        </p:nvSpPr>
        <p:spPr>
          <a:xfrm>
            <a:off x="85476" y="24550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N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F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U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R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98" name="Google Shape;1898;p77"/>
          <p:cNvSpPr txBox="1"/>
          <p:nvPr/>
        </p:nvSpPr>
        <p:spPr>
          <a:xfrm>
            <a:off x="5038775" y="1467750"/>
            <a:ext cx="4165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Fit any term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9" name="Google Shape;1899;p77"/>
          <p:cNvSpPr txBox="1"/>
          <p:nvPr/>
        </p:nvSpPr>
        <p:spPr>
          <a:xfrm>
            <a:off x="5038775" y="1976985"/>
            <a:ext cx="416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Feel Literate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0" name="Google Shape;1900;p77"/>
          <p:cNvSpPr/>
          <p:nvPr/>
        </p:nvSpPr>
        <p:spPr>
          <a:xfrm>
            <a:off x="507563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901" name="Google Shape;1901;p77"/>
          <p:cNvSpPr/>
          <p:nvPr/>
        </p:nvSpPr>
        <p:spPr>
          <a:xfrm>
            <a:off x="959891" y="36625"/>
            <a:ext cx="297300" cy="5116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902" name="Google Shape;1902;p77"/>
          <p:cNvSpPr/>
          <p:nvPr/>
        </p:nvSpPr>
        <p:spPr>
          <a:xfrm>
            <a:off x="1454630" y="36625"/>
            <a:ext cx="297300" cy="51165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L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903" name="Google Shape;1903;p77"/>
          <p:cNvSpPr txBox="1"/>
          <p:nvPr/>
        </p:nvSpPr>
        <p:spPr>
          <a:xfrm>
            <a:off x="5038775" y="2494026"/>
            <a:ext cx="4165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Fit yourself - create your own roadmap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78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Jaate Jaate!</a:t>
            </a:r>
            <a:endParaRPr b="1" sz="40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09" name="Google Shape;1909;p7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910" name="Google Shape;1910;p7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911" name="Google Shape;1911;p78"/>
          <p:cNvSpPr txBox="1"/>
          <p:nvPr/>
        </p:nvSpPr>
        <p:spPr>
          <a:xfrm>
            <a:off x="832806" y="1174400"/>
            <a:ext cx="8520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How to test this map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2" name="Google Shape;1912;p78"/>
          <p:cNvSpPr txBox="1"/>
          <p:nvPr/>
        </p:nvSpPr>
        <p:spPr>
          <a:xfrm>
            <a:off x="832806" y="1897850"/>
            <a:ext cx="8416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Working on a detailed resource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3" name="Google Shape;1913;p78"/>
          <p:cNvSpPr txBox="1"/>
          <p:nvPr/>
        </p:nvSpPr>
        <p:spPr>
          <a:xfrm>
            <a:off x="837956" y="2649300"/>
            <a:ext cx="75297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How am I feeling?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